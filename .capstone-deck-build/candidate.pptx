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05c7c35ffa4255" /><Relationship Type="http://schemas.openxmlformats.org/officeDocument/2006/relationships/extended-properties" Target="/docProps/app.xml" Id="R10eae1ba45e64a69" /><Relationship Type="http://schemas.openxmlformats.org/officeDocument/2006/relationships/officeDocument" Target="/ppt/presentation.xml" Id="R60e22530c4d34ede" /></Relationships>
</file>

<file path=ppt/presentation.xml><?xml version="1.0" encoding="utf-8"?>
<p:presentation xmlns:p="http://schemas.openxmlformats.org/presentationml/2006/main">
  <p:sldMasterIdLst>
    <p:sldMasterId xmlns:r="http://schemas.openxmlformats.org/officeDocument/2006/relationships" id="2147483648" r:id="R14eff98072e64301"/>
  </p:sldMasterIdLst>
  <p:notesMasterIdLst>
    <p:notesMasterId xmlns:r="http://schemas.openxmlformats.org/officeDocument/2006/relationships" r:id="R11cb1a13c6704447"/>
  </p:notesMasterIdLst>
  <p:sldIdLst>
    <p:sldId xmlns:r="http://schemas.openxmlformats.org/officeDocument/2006/relationships" id="256" r:id="Rb65addbcaf1f400a"/>
    <p:sldId xmlns:r="http://schemas.openxmlformats.org/officeDocument/2006/relationships" id="257" r:id="R2bdfa7d46803436e"/>
    <p:sldId xmlns:r="http://schemas.openxmlformats.org/officeDocument/2006/relationships" id="258" r:id="R3d695c70ffd2442d"/>
    <p:sldId xmlns:r="http://schemas.openxmlformats.org/officeDocument/2006/relationships" id="259" r:id="Ref045df191ac4d2b"/>
    <p:sldId xmlns:r="http://schemas.openxmlformats.org/officeDocument/2006/relationships" id="260" r:id="Rfd29a5be49864cfc"/>
    <p:sldId xmlns:r="http://schemas.openxmlformats.org/officeDocument/2006/relationships" id="261" r:id="Re18f925f9ce74433"/>
    <p:sldId xmlns:r="http://schemas.openxmlformats.org/officeDocument/2006/relationships" id="262" r:id="Rfcdf432b38844c76"/>
    <p:sldId xmlns:r="http://schemas.openxmlformats.org/officeDocument/2006/relationships" id="263" r:id="Rb36e431528a343d3"/>
    <p:sldId xmlns:r="http://schemas.openxmlformats.org/officeDocument/2006/relationships" id="264" r:id="Re9d09ce10f9c4b74"/>
    <p:sldId xmlns:r="http://schemas.openxmlformats.org/officeDocument/2006/relationships" id="265" r:id="R2c7b96df90334566"/>
    <p:sldId xmlns:r="http://schemas.openxmlformats.org/officeDocument/2006/relationships" id="266" r:id="R1841f32634a147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7ee49ba8954ad1" /><Relationship Type="http://schemas.openxmlformats.org/officeDocument/2006/relationships/slideMaster" Target="/ppt/slideMasters/slideMaster1.xml" Id="R14eff98072e64301" /><Relationship Type="http://schemas.openxmlformats.org/officeDocument/2006/relationships/notesMaster" Target="/ppt/notesMasters/notesMaster1.xml" Id="R11cb1a13c6704447" /><Relationship Type="http://schemas.openxmlformats.org/officeDocument/2006/relationships/presProps" Target="/ppt/presProps.xml" Id="R1a3c67b2109f4acd" /><Relationship Type="http://schemas.openxmlformats.org/officeDocument/2006/relationships/tableStyles" Target="/ppt/tableStyles.xml" Id="Raa7a338a389a486e" /><Relationship Type="http://schemas.openxmlformats.org/officeDocument/2006/relationships/slide" Target="/ppt/slides/slide1.xml" Id="Rb65addbcaf1f400a" /><Relationship Type="http://schemas.openxmlformats.org/officeDocument/2006/relationships/slide" Target="/ppt/slides/slide2.xml" Id="R2bdfa7d46803436e" /><Relationship Type="http://schemas.openxmlformats.org/officeDocument/2006/relationships/slide" Target="/ppt/slides/slide3.xml" Id="R3d695c70ffd2442d" /><Relationship Type="http://schemas.openxmlformats.org/officeDocument/2006/relationships/slide" Target="/ppt/slides/slide4.xml" Id="Ref045df191ac4d2b" /><Relationship Type="http://schemas.openxmlformats.org/officeDocument/2006/relationships/slide" Target="/ppt/slides/slide5.xml" Id="Rfd29a5be49864cfc" /><Relationship Type="http://schemas.openxmlformats.org/officeDocument/2006/relationships/slide" Target="/ppt/slides/slide6.xml" Id="Re18f925f9ce74433" /><Relationship Type="http://schemas.openxmlformats.org/officeDocument/2006/relationships/slide" Target="/ppt/slides/slide7.xml" Id="Rfcdf432b38844c76" /><Relationship Type="http://schemas.openxmlformats.org/officeDocument/2006/relationships/slide" Target="/ppt/slides/slide8.xml" Id="Rb36e431528a343d3" /><Relationship Type="http://schemas.openxmlformats.org/officeDocument/2006/relationships/slide" Target="/ppt/slides/slide9.xml" Id="Re9d09ce10f9c4b74" /><Relationship Type="http://schemas.openxmlformats.org/officeDocument/2006/relationships/slide" Target="/ppt/slides/slide10.xml" Id="R2c7b96df90334566" /><Relationship Type="http://schemas.openxmlformats.org/officeDocument/2006/relationships/slide" Target="/ppt/slides/slide11.xml" Id="R1841f32634a147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b93e184a0149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c078668aea4b34" /><Relationship Type="http://schemas.openxmlformats.org/officeDocument/2006/relationships/notesMaster" Target="/ppt/notesMasters/notesMaster1.xml" Id="R74863c5fd6734b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bc4fb46790402e" /><Relationship Type="http://schemas.openxmlformats.org/officeDocument/2006/relationships/notesMaster" Target="/ppt/notesMasters/notesMaster1.xml" Id="R86249a20b9c44b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30cfb4b55942f1" /><Relationship Type="http://schemas.openxmlformats.org/officeDocument/2006/relationships/notesMaster" Target="/ppt/notesMasters/notesMaster1.xml" Id="R67e6206d1cde45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6a2aa62a114e0a" /><Relationship Type="http://schemas.openxmlformats.org/officeDocument/2006/relationships/notesMaster" Target="/ppt/notesMasters/notesMaster1.xml" Id="R2239d299e3e545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0c0634f6b3a424d" /><Relationship Type="http://schemas.openxmlformats.org/officeDocument/2006/relationships/notesMaster" Target="/ppt/notesMasters/notesMaster1.xml" Id="Racfdbd14e6ec4c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e0128b69f24f71" /><Relationship Type="http://schemas.openxmlformats.org/officeDocument/2006/relationships/notesMaster" Target="/ppt/notesMasters/notesMaster1.xml" Id="R1ec82345b4374f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01e06b8f3784efd" /><Relationship Type="http://schemas.openxmlformats.org/officeDocument/2006/relationships/notesMaster" Target="/ppt/notesMasters/notesMaster1.xml" Id="R1546d550aa6949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2da2ca6e6c45a3" /><Relationship Type="http://schemas.openxmlformats.org/officeDocument/2006/relationships/notesMaster" Target="/ppt/notesMasters/notesMaster1.xml" Id="R018de402b3fb46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7a4e1514524740" /><Relationship Type="http://schemas.openxmlformats.org/officeDocument/2006/relationships/notesMaster" Target="/ppt/notesMasters/notesMaster1.xml" Id="R22bb234beb9143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3e7a7567d84bc1" /><Relationship Type="http://schemas.openxmlformats.org/officeDocument/2006/relationships/notesMaster" Target="/ppt/notesMasters/notesMaster1.xml" Id="R1c8c882e69dc45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55dccc4090497d" /><Relationship Type="http://schemas.openxmlformats.org/officeDocument/2006/relationships/notesMaster" Target="/ppt/notesMasters/notesMaster1.xml" Id="Rb3aa2dea09534c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the proposed capstone roadmap. Students retain their choice of product and implementation. The shared expectations concern demonstrable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capstone continues through all three courses. MVP means minimum viable product: the smallest complete version that delivers the intended user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run the app, perform the core action, and show the stored result. Planning and wireframes support the build, but working software is the course finish line. Example: create a booking and reopen it. Authentication is required when the product or program learning outcomes require it. Illustration: shared/images/118-story-to-page.png, generated for this curriculum.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end-of-class targets, adjustable to session length and student preparation. Data storage decisions happen early. An app without accounts should still explain its access model. Check deployment or device installation feasibility 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means minimum viable product. Evidence: ask a peer to perform the main journey without coaching. Show normal behavior, an invalid action, and persistence after refresh or restart. Finish with a known-issues list and freeze the essential feature scope. Illustration: shared/images/119-refresh-test.png.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Classes 1–6 within course 119 correspond to overall capstone classes 7–12. These general outcomes apply across web and mobile projects. MVP means minimum viable product. Students choose the implementation and the essential business rule. At the review, a new user should complete the essential journey independently.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 delivery can be a deployed site. Mobile delivery can be an installable build or an approved testing distribution; public app-store publication is not automatically required. Supply access/setup instructions and known limitations. The final demo explains the user problem, workflow, technical decisions and evidence. Illustration: shared/images/120-demo-evidence.png.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Classes 1–6 within course 120 correspond to overall capstone classes 13–18. Students should check deployment or installation feasibility earlier. Class 3 makes delivery dependable. Failure conditions depend on the project, for example invalid input, restart, network loss or denied permissions. Delivery can be a deployed website or an installable mobile build with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examples, not required project types. Students may choose different stacks and storage solutions. Authentication is conditional on product needs and course requirements. Evaluate the same outcomes while allowing appropriate technical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working demonstrations for behavior. Screenshots alone do not establish persistence or correctness. These are completion standards, not a proposed grading scheme. If students work in teams, each student should explain a meaningful contribution and the associated technical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five minutes to complete these statements with observable behaviors. Then ask a partner to identify the evidence needed for each. Keep the initial scope small enough to finish. Revisit these statements at each course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61c8df20f04c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36bf628edf4b62" /><Relationship Type="http://schemas.openxmlformats.org/officeDocument/2006/relationships/slideLayout" Target="/ppt/slideLayouts/slideLayout1.xml" Id="R5b889a62a1354e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889a62a1354e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3af7422d0a4b68" /><Relationship Type="http://schemas.openxmlformats.org/officeDocument/2006/relationships/notesSlide" Target="/ppt/notesSlides/notesSlide1.xml" Id="R2f38470774e642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ada889161c4c67" /><Relationship Type="http://schemas.openxmlformats.org/officeDocument/2006/relationships/notesSlide" Target="/ppt/notesSlides/notesSlide2.xml" Id="R3af51e43e6ba43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f6c4f102804b6f" /><Relationship Type="http://schemas.openxmlformats.org/officeDocument/2006/relationships/image" Target="/ppt/media/image.png" Id="R51cd3dea558842ad" /><Relationship Type="http://schemas.openxmlformats.org/officeDocument/2006/relationships/notesSlide" Target="/ppt/notesSlides/notesSlide3.xml" Id="Ref53e477c7be4e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be6a8adcb64efb" /><Relationship Type="http://schemas.openxmlformats.org/officeDocument/2006/relationships/notesSlide" Target="/ppt/notesSlides/notesSlide4.xml" Id="Raed82f33d8514bc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e2c0c2c4ac4349" /><Relationship Type="http://schemas.openxmlformats.org/officeDocument/2006/relationships/image" Target="/ppt/media/image2.png" Id="R14ca1d2087004f23" /><Relationship Type="http://schemas.openxmlformats.org/officeDocument/2006/relationships/notesSlide" Target="/ppt/notesSlides/notesSlide5.xml" Id="Rdf3efe0349a547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efcda91d5db4f32" /><Relationship Type="http://schemas.openxmlformats.org/officeDocument/2006/relationships/notesSlide" Target="/ppt/notesSlides/notesSlide6.xml" Id="R074f352c0e0c4b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eaeaaeb16843e8" /><Relationship Type="http://schemas.openxmlformats.org/officeDocument/2006/relationships/image" Target="/ppt/media/image3.png" Id="R71f2d8e5b91e4328" /><Relationship Type="http://schemas.openxmlformats.org/officeDocument/2006/relationships/notesSlide" Target="/ppt/notesSlides/notesSlide7.xml" Id="R9aeb608a256e48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e146f21ece47be" /><Relationship Type="http://schemas.openxmlformats.org/officeDocument/2006/relationships/notesSlide" Target="/ppt/notesSlides/notesSlide8.xml" Id="R0c7b94c5b0dc41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63389f7b9f44aa" /><Relationship Type="http://schemas.openxmlformats.org/officeDocument/2006/relationships/notesSlide" Target="/ppt/notesSlides/notesSlide9.xml" Id="Rd5ca4391a7f44f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348ac0d5b14aec" /><Relationship Type="http://schemas.openxmlformats.org/officeDocument/2006/relationships/notesSlide" Target="/ppt/notesSlides/notesSlide10.xml" Id="R252dda794a584f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b627942f9a455f" /><Relationship Type="http://schemas.openxmlformats.org/officeDocument/2006/relationships/notesSlide" Target="/ppt/notesSlides/notesSlide11.xml" Id="R6505e0a6483f4ec6" /></Relationships>
</file>

<file path=ppt/slides/slide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E0A1D8-B307-4657-9358-2EA423686B9D}"/>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SDGKU  /  FULL-STACK &amp; MOBILE</a:t>
            </a:r>
          </a:p>
        </p:txBody>
      </p:sp>
      <p:sp>
        <p:nvSpPr>
          <p:cNvPr id="2" name="">
            <a:extLst xmlns:a="http://schemas.openxmlformats.org/drawingml/2006/main">
              <a:ext uri="{FF2B5EF4-FFF2-40B4-BE49-F238E27FC236}">
                <a16:creationId xmlns:a16="http://schemas.microsoft.com/office/drawing/2014/main" id="{30421FB1-5B15-4EF4-8FDF-98058BE425BB}"/>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Capstone finish lines</a:t>
            </a:r>
          </a:p>
        </p:txBody>
      </p:sp>
      <p:sp>
        <p:nvSpPr>
          <p:cNvPr id="3" name="">
            <a:extLst xmlns:a="http://schemas.openxmlformats.org/drawingml/2006/main">
              <a:ext uri="{FF2B5EF4-FFF2-40B4-BE49-F238E27FC236}">
                <a16:creationId xmlns:a16="http://schemas.microsoft.com/office/drawing/2014/main" id="{D23FE122-14D2-4BCA-AA4B-0488D4672AD8}"/>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2AAA8E1C-612A-4C1A-B51C-D6D2194A912D}"/>
              </a:ext>
            </a:extLst>
          </p:cNvPr>
          <p:cNvSpPr>
            <a:spLocks xmlns:a="http://schemas.openxmlformats.org/drawingml/2006/main" noGrp="1"/>
          </p:cNvSpPr>
          <p:nvPr/>
        </p:nvSpPr>
        <p:spPr>
          <a:xfrm xmlns:a="http://schemas.openxmlformats.org/drawingml/2006/main">
            <a:off x="609600" y="2238375"/>
            <a:ext cx="8096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0262D"/>
                </a:solidFill>
                <a:latin typeface="Helvetica Neue"/>
                <a:ea typeface="Helvetica Neue"/>
                <a:cs typeface="Helvetica Neue"/>
              </a:defRPr>
            </a:pPr>
            <a:r>
              <a:rPr sz="4800" b="1">
                <a:solidFill>
                  <a:srgbClr val="20262D"/>
                </a:solidFill>
                <a:latin typeface="Helvetica Neue"/>
                <a:ea typeface="Helvetica Neue"/>
                <a:cs typeface="Helvetica Neue"/>
              </a:rPr>
              <a:t>One project across</a:t>
            </a:r>
          </a:p>
          <a:p xmlns:a="http://schemas.openxmlformats.org/drawingml/2006/main">
            <a:pPr>
              <a:defRPr sz="4800" b="1">
                <a:solidFill>
                  <a:srgbClr val="20262D"/>
                </a:solidFill>
                <a:latin typeface="Helvetica Neue"/>
                <a:ea typeface="Helvetica Neue"/>
                <a:cs typeface="Helvetica Neue"/>
              </a:defRPr>
            </a:pPr>
            <a:r>
              <a:rPr sz="4800" b="1">
                <a:solidFill>
                  <a:srgbClr val="20262D"/>
                </a:solidFill>
                <a:latin typeface="Helvetica Neue"/>
                <a:ea typeface="Helvetica Neue"/>
                <a:cs typeface="Helvetica Neue"/>
              </a:rPr>
              <a:t>three courses</a:t>
            </a:r>
          </a:p>
        </p:txBody>
      </p:sp>
      <p:sp>
        <p:nvSpPr>
          <p:cNvPr id="5" name="">
            <a:extLst xmlns:a="http://schemas.openxmlformats.org/drawingml/2006/main">
              <a:ext uri="{FF2B5EF4-FFF2-40B4-BE49-F238E27FC236}">
                <a16:creationId xmlns:a16="http://schemas.microsoft.com/office/drawing/2014/main" id="{0FA58418-4D46-43A2-BC2C-D9C5528D2200}"/>
              </a:ext>
            </a:extLst>
          </p:cNvPr>
          <p:cNvSpPr>
            <a:spLocks xmlns:a="http://schemas.openxmlformats.org/drawingml/2006/main" noGrp="1"/>
          </p:cNvSpPr>
          <p:nvPr/>
        </p:nvSpPr>
        <p:spPr>
          <a:xfrm xmlns:a="http://schemas.openxmlformats.org/drawingml/2006/main">
            <a:off x="647700" y="4448175"/>
            <a:ext cx="904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D6670"/>
                </a:solidFill>
                <a:latin typeface="Helvetica Neue"/>
                <a:ea typeface="Helvetica Neue"/>
                <a:cs typeface="Helvetica Neue"/>
              </a:defRPr>
            </a:pPr>
            <a:r>
              <a:rPr sz="2100" b="0">
                <a:solidFill>
                  <a:srgbClr val="5D6670"/>
                </a:solidFill>
                <a:latin typeface="Helvetica Neue"/>
                <a:ea typeface="Helvetica Neue"/>
                <a:cs typeface="Helvetica Neue"/>
              </a:rPr>
              <a:t>118, 119 and 120</a:t>
            </a:r>
          </a:p>
          <a:p xmlns:a="http://schemas.openxmlformats.org/drawingml/2006/main">
            <a:pPr>
              <a:defRPr sz="2100" b="0">
                <a:solidFill>
                  <a:srgbClr val="5D6670"/>
                </a:solidFill>
                <a:latin typeface="Helvetica Neue"/>
                <a:ea typeface="Helvetica Neue"/>
                <a:cs typeface="Helvetica Neue"/>
              </a:defRPr>
            </a:pPr>
            <a:r>
              <a:rPr sz="2100" b="0">
                <a:solidFill>
                  <a:srgbClr val="5D6670"/>
                </a:solidFill>
                <a:latin typeface="Helvetica Neue"/>
                <a:ea typeface="Helvetica Neue"/>
                <a:cs typeface="Helvetica Neue"/>
              </a:rPr>
              <a:t>Six classes per course. Eighteen classes in total.</a:t>
            </a:r>
          </a:p>
        </p:txBody>
      </p:sp>
    </p:spTree>
    <p:extLst>
      <p:ext uri="{BB962C8B-B14F-4D97-AF65-F5344CB8AC3E}">
        <p14:creationId xmlns:p14="http://schemas.microsoft.com/office/powerpoint/2010/main" val="1986363007"/>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7F2C11-80A7-45F4-9625-E7E35EE4763E}"/>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THE ROADMAP</a:t>
            </a:r>
          </a:p>
        </p:txBody>
      </p:sp>
      <p:sp>
        <p:nvSpPr>
          <p:cNvPr id="2" name="">
            <a:extLst xmlns:a="http://schemas.openxmlformats.org/drawingml/2006/main">
              <a:ext uri="{FF2B5EF4-FFF2-40B4-BE49-F238E27FC236}">
                <a16:creationId xmlns:a16="http://schemas.microsoft.com/office/drawing/2014/main" id="{50270C03-DF2A-46F1-B9B9-02B4E46EB462}"/>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Three courses, one growing product</a:t>
            </a:r>
          </a:p>
        </p:txBody>
      </p:sp>
      <p:sp>
        <p:nvSpPr>
          <p:cNvPr id="3" name="">
            <a:extLst xmlns:a="http://schemas.openxmlformats.org/drawingml/2006/main">
              <a:ext uri="{FF2B5EF4-FFF2-40B4-BE49-F238E27FC236}">
                <a16:creationId xmlns:a16="http://schemas.microsoft.com/office/drawing/2014/main" id="{3E335A17-16D0-4044-834B-36B6349B5DDB}"/>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7DF085C7-FE09-484F-A26D-2A8AED4BB2E5}"/>
              </a:ext>
            </a:extLst>
          </p:cNvPr>
          <p:cNvSpPr>
            <a:spLocks xmlns:a="http://schemas.openxmlformats.org/drawingml/2006/main" noGrp="1"/>
          </p:cNvSpPr>
          <p:nvPr/>
        </p:nvSpPr>
        <p:spPr>
          <a:xfrm xmlns:a="http://schemas.openxmlformats.org/drawingml/2006/main">
            <a:off x="609600" y="20955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D23939"/>
                </a:solidFill>
                <a:latin typeface="Helvetica Neue"/>
                <a:ea typeface="Helvetica Neue"/>
                <a:cs typeface="Helvetica Neue"/>
              </a:defRPr>
            </a:pPr>
            <a:r>
              <a:rPr sz="5400" b="1">
                <a:solidFill>
                  <a:srgbClr val="D23939"/>
                </a:solidFill>
                <a:latin typeface="Helvetica Neue"/>
                <a:ea typeface="Helvetica Neue"/>
                <a:cs typeface="Helvetica Neue"/>
              </a:rPr>
              <a:t>118</a:t>
            </a:r>
          </a:p>
        </p:txBody>
      </p:sp>
      <p:sp>
        <p:nvSpPr>
          <p:cNvPr id="5" name="">
            <a:extLst xmlns:a="http://schemas.openxmlformats.org/drawingml/2006/main">
              <a:ext uri="{FF2B5EF4-FFF2-40B4-BE49-F238E27FC236}">
                <a16:creationId xmlns:a16="http://schemas.microsoft.com/office/drawing/2014/main" id="{61D4540F-4A08-428D-BEAA-C0202E8222BB}"/>
              </a:ext>
            </a:extLst>
          </p:cNvPr>
          <p:cNvSpPr>
            <a:spLocks xmlns:a="http://schemas.openxmlformats.org/drawingml/2006/main" noGrp="1"/>
          </p:cNvSpPr>
          <p:nvPr/>
        </p:nvSpPr>
        <p:spPr>
          <a:xfrm xmlns:a="http://schemas.openxmlformats.org/drawingml/2006/main">
            <a:off x="609600" y="326707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262D"/>
                </a:solidFill>
                <a:latin typeface="Helvetica Neue"/>
                <a:ea typeface="Helvetica Neue"/>
                <a:cs typeface="Helvetica Neue"/>
              </a:defRPr>
            </a:pPr>
            <a:r>
              <a:rPr sz="2400" b="1">
                <a:solidFill>
                  <a:srgbClr val="20262D"/>
                </a:solidFill>
                <a:latin typeface="Helvetica Neue"/>
                <a:ea typeface="Helvetica Neue"/>
                <a:cs typeface="Helvetica Neue"/>
              </a:rPr>
              <a:t>Core idea works</a:t>
            </a:r>
          </a:p>
        </p:txBody>
      </p:sp>
      <p:sp>
        <p:nvSpPr>
          <p:cNvPr id="6" name="">
            <a:extLst xmlns:a="http://schemas.openxmlformats.org/drawingml/2006/main">
              <a:ext uri="{FF2B5EF4-FFF2-40B4-BE49-F238E27FC236}">
                <a16:creationId xmlns:a16="http://schemas.microsoft.com/office/drawing/2014/main" id="{DCF3E9F1-69A6-47CE-A2E4-F14637AB35CB}"/>
              </a:ext>
            </a:extLst>
          </p:cNvPr>
          <p:cNvSpPr>
            <a:spLocks xmlns:a="http://schemas.openxmlformats.org/drawingml/2006/main" noGrp="1"/>
          </p:cNvSpPr>
          <p:nvPr/>
        </p:nvSpPr>
        <p:spPr>
          <a:xfrm xmlns:a="http://schemas.openxmlformats.org/drawingml/2006/main">
            <a:off x="609600" y="4286250"/>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One useful workflow connects</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the interface to real storage.</a:t>
            </a:r>
          </a:p>
        </p:txBody>
      </p:sp>
      <p:sp>
        <p:nvSpPr>
          <p:cNvPr id="7" name="">
            <a:extLst xmlns:a="http://schemas.openxmlformats.org/drawingml/2006/main">
              <a:ext uri="{FF2B5EF4-FFF2-40B4-BE49-F238E27FC236}">
                <a16:creationId xmlns:a16="http://schemas.microsoft.com/office/drawing/2014/main" id="{02636668-CB53-4E3F-93B0-EACF2C57C980}"/>
              </a:ext>
            </a:extLst>
          </p:cNvPr>
          <p:cNvSpPr>
            <a:spLocks xmlns:a="http://schemas.openxmlformats.org/drawingml/2006/main" noGrp="1"/>
          </p:cNvSpPr>
          <p:nvPr/>
        </p:nvSpPr>
        <p:spPr>
          <a:xfrm xmlns:a="http://schemas.openxmlformats.org/drawingml/2006/main">
            <a:off x="4419600" y="20955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D23939"/>
                </a:solidFill>
                <a:latin typeface="Helvetica Neue"/>
                <a:ea typeface="Helvetica Neue"/>
                <a:cs typeface="Helvetica Neue"/>
              </a:defRPr>
            </a:pPr>
            <a:r>
              <a:rPr sz="5400" b="1">
                <a:solidFill>
                  <a:srgbClr val="D23939"/>
                </a:solidFill>
                <a:latin typeface="Helvetica Neue"/>
                <a:ea typeface="Helvetica Neue"/>
                <a:cs typeface="Helvetica Neue"/>
              </a:rPr>
              <a:t>119</a:t>
            </a:r>
          </a:p>
        </p:txBody>
      </p:sp>
      <p:sp>
        <p:nvSpPr>
          <p:cNvPr id="8" name="">
            <a:extLst xmlns:a="http://schemas.openxmlformats.org/drawingml/2006/main">
              <a:ext uri="{FF2B5EF4-FFF2-40B4-BE49-F238E27FC236}">
                <a16:creationId xmlns:a16="http://schemas.microsoft.com/office/drawing/2014/main" id="{B0415D0A-A698-42D4-B66F-A1F6233F256C}"/>
              </a:ext>
            </a:extLst>
          </p:cNvPr>
          <p:cNvSpPr>
            <a:spLocks xmlns:a="http://schemas.openxmlformats.org/drawingml/2006/main" noGrp="1"/>
          </p:cNvSpPr>
          <p:nvPr/>
        </p:nvSpPr>
        <p:spPr>
          <a:xfrm xmlns:a="http://schemas.openxmlformats.org/drawingml/2006/main">
            <a:off x="4419600" y="326707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262D"/>
                </a:solidFill>
                <a:latin typeface="Helvetica Neue"/>
                <a:ea typeface="Helvetica Neue"/>
                <a:cs typeface="Helvetica Neue"/>
              </a:defRPr>
            </a:pPr>
            <a:r>
              <a:rPr sz="2400" b="1">
                <a:solidFill>
                  <a:srgbClr val="20262D"/>
                </a:solidFill>
                <a:latin typeface="Helvetica Neue"/>
                <a:ea typeface="Helvetica Neue"/>
                <a:cs typeface="Helvetica Neue"/>
              </a:rPr>
              <a:t>MVP is complete</a:t>
            </a:r>
          </a:p>
        </p:txBody>
      </p:sp>
      <p:sp>
        <p:nvSpPr>
          <p:cNvPr id="9" name="">
            <a:extLst xmlns:a="http://schemas.openxmlformats.org/drawingml/2006/main">
              <a:ext uri="{FF2B5EF4-FFF2-40B4-BE49-F238E27FC236}">
                <a16:creationId xmlns:a16="http://schemas.microsoft.com/office/drawing/2014/main" id="{2D25F510-1288-49D8-87F3-A5CC057E7851}"/>
              </a:ext>
            </a:extLst>
          </p:cNvPr>
          <p:cNvSpPr>
            <a:spLocks xmlns:a="http://schemas.openxmlformats.org/drawingml/2006/main" noGrp="1"/>
          </p:cNvSpPr>
          <p:nvPr/>
        </p:nvSpPr>
        <p:spPr>
          <a:xfrm xmlns:a="http://schemas.openxmlformats.org/drawingml/2006/main">
            <a:off x="4419600" y="4286250"/>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Someone else can complete</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the essential user journey.</a:t>
            </a:r>
          </a:p>
        </p:txBody>
      </p:sp>
      <p:sp>
        <p:nvSpPr>
          <p:cNvPr id="10" name="">
            <a:extLst xmlns:a="http://schemas.openxmlformats.org/drawingml/2006/main">
              <a:ext uri="{FF2B5EF4-FFF2-40B4-BE49-F238E27FC236}">
                <a16:creationId xmlns:a16="http://schemas.microsoft.com/office/drawing/2014/main" id="{E1947BF8-9315-433C-A078-4D7DDE5AF604}"/>
              </a:ext>
            </a:extLst>
          </p:cNvPr>
          <p:cNvSpPr>
            <a:spLocks xmlns:a="http://schemas.openxmlformats.org/drawingml/2006/main" noGrp="1"/>
          </p:cNvSpPr>
          <p:nvPr/>
        </p:nvSpPr>
        <p:spPr>
          <a:xfrm xmlns:a="http://schemas.openxmlformats.org/drawingml/2006/main">
            <a:off x="8229600" y="20955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D23939"/>
                </a:solidFill>
                <a:latin typeface="Helvetica Neue"/>
                <a:ea typeface="Helvetica Neue"/>
                <a:cs typeface="Helvetica Neue"/>
              </a:defRPr>
            </a:pPr>
            <a:r>
              <a:rPr sz="5400" b="1">
                <a:solidFill>
                  <a:srgbClr val="D23939"/>
                </a:solidFill>
                <a:latin typeface="Helvetica Neue"/>
                <a:ea typeface="Helvetica Neue"/>
                <a:cs typeface="Helvetica Neue"/>
              </a:rPr>
              <a:t>120</a:t>
            </a:r>
          </a:p>
        </p:txBody>
      </p:sp>
      <p:sp>
        <p:nvSpPr>
          <p:cNvPr id="11" name="">
            <a:extLst xmlns:a="http://schemas.openxmlformats.org/drawingml/2006/main">
              <a:ext uri="{FF2B5EF4-FFF2-40B4-BE49-F238E27FC236}">
                <a16:creationId xmlns:a16="http://schemas.microsoft.com/office/drawing/2014/main" id="{30E10A63-A086-47DA-AB77-05F4C9CE0558}"/>
              </a:ext>
            </a:extLst>
          </p:cNvPr>
          <p:cNvSpPr>
            <a:spLocks xmlns:a="http://schemas.openxmlformats.org/drawingml/2006/main" noGrp="1"/>
          </p:cNvSpPr>
          <p:nvPr/>
        </p:nvSpPr>
        <p:spPr>
          <a:xfrm xmlns:a="http://schemas.openxmlformats.org/drawingml/2006/main">
            <a:off x="8229600" y="3267075"/>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0262D"/>
                </a:solidFill>
                <a:latin typeface="Helvetica Neue"/>
                <a:ea typeface="Helvetica Neue"/>
                <a:cs typeface="Helvetica Neue"/>
              </a:defRPr>
            </a:pPr>
            <a:r>
              <a:rPr sz="2400" b="1">
                <a:solidFill>
                  <a:srgbClr val="20262D"/>
                </a:solidFill>
                <a:latin typeface="Helvetica Neue"/>
                <a:ea typeface="Helvetica Neue"/>
                <a:cs typeface="Helvetica Neue"/>
              </a:rPr>
              <a:t>Product is ready</a:t>
            </a:r>
          </a:p>
        </p:txBody>
      </p:sp>
      <p:sp>
        <p:nvSpPr>
          <p:cNvPr id="12" name="">
            <a:extLst xmlns:a="http://schemas.openxmlformats.org/drawingml/2006/main">
              <a:ext uri="{FF2B5EF4-FFF2-40B4-BE49-F238E27FC236}">
                <a16:creationId xmlns:a16="http://schemas.microsoft.com/office/drawing/2014/main" id="{49A8786F-A22F-4A71-8F2E-60268E387804}"/>
              </a:ext>
            </a:extLst>
          </p:cNvPr>
          <p:cNvSpPr>
            <a:spLocks xmlns:a="http://schemas.openxmlformats.org/drawingml/2006/main" noGrp="1"/>
          </p:cNvSpPr>
          <p:nvPr/>
        </p:nvSpPr>
        <p:spPr>
          <a:xfrm xmlns:a="http://schemas.openxmlformats.org/drawingml/2006/main">
            <a:off x="8229600" y="4286250"/>
            <a:ext cx="3381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A tested release is accessible</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and ready to demonstrate.</a:t>
            </a:r>
          </a:p>
        </p:txBody>
      </p:sp>
    </p:spTree>
    <p:extLst>
      <p:ext uri="{BB962C8B-B14F-4D97-AF65-F5344CB8AC3E}">
        <p14:creationId xmlns:p14="http://schemas.microsoft.com/office/powerpoint/2010/main" val="94844510"/>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9CD60E-CAEF-4BEA-89F3-798F57B41E8C}"/>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 118  /  CLASSES 1–6</a:t>
            </a:r>
          </a:p>
        </p:txBody>
      </p:sp>
      <p:sp>
        <p:nvSpPr>
          <p:cNvPr id="2" name="">
            <a:extLst xmlns:a="http://schemas.openxmlformats.org/drawingml/2006/main">
              <a:ext uri="{FF2B5EF4-FFF2-40B4-BE49-F238E27FC236}">
                <a16:creationId xmlns:a16="http://schemas.microsoft.com/office/drawing/2014/main" id="{9803A09E-1251-48A1-94A9-DAB1DCA86AFF}"/>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118: The core idea works</a:t>
            </a:r>
          </a:p>
        </p:txBody>
      </p:sp>
      <p:sp>
        <p:nvSpPr>
          <p:cNvPr id="3" name="">
            <a:extLst xmlns:a="http://schemas.openxmlformats.org/drawingml/2006/main">
              <a:ext uri="{FF2B5EF4-FFF2-40B4-BE49-F238E27FC236}">
                <a16:creationId xmlns:a16="http://schemas.microsoft.com/office/drawing/2014/main" id="{A168BC3B-032B-48EB-B52C-A1208BE99DE9}"/>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68917619-AA6B-4E5B-8FA3-BC235DF490CF}"/>
              </a:ext>
            </a:extLst>
          </p:cNvPr>
          <p:cNvSpPr>
            <a:spLocks xmlns:a="http://schemas.openxmlformats.org/drawingml/2006/main" noGrp="1"/>
          </p:cNvSpPr>
          <p:nvPr/>
        </p:nvSpPr>
        <p:spPr>
          <a:xfrm xmlns:a="http://schemas.openxmlformats.org/drawingml/2006/main">
            <a:off x="609600" y="20288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23939"/>
                </a:solidFill>
                <a:latin typeface="Helvetica Neue"/>
                <a:ea typeface="Helvetica Neue"/>
                <a:cs typeface="Helvetica Neue"/>
              </a:defRPr>
            </a:pPr>
            <a:r>
              <a:rPr sz="1950" b="1">
                <a:solidFill>
                  <a:srgbClr val="D23939"/>
                </a:solidFill>
                <a:latin typeface="Helvetica Neue"/>
                <a:ea typeface="Helvetica Neue"/>
                <a:cs typeface="Helvetica Neue"/>
              </a:rPr>
              <a:t>Finish line</a:t>
            </a:r>
          </a:p>
        </p:txBody>
      </p:sp>
      <p:sp>
        <p:nvSpPr>
          <p:cNvPr id="5" name="">
            <a:extLst xmlns:a="http://schemas.openxmlformats.org/drawingml/2006/main">
              <a:ext uri="{FF2B5EF4-FFF2-40B4-BE49-F238E27FC236}">
                <a16:creationId xmlns:a16="http://schemas.microsoft.com/office/drawing/2014/main" id="{D7A93D55-28C7-49D2-B807-C4946B01E8C1}"/>
              </a:ext>
            </a:extLst>
          </p:cNvPr>
          <p:cNvSpPr>
            <a:spLocks xmlns:a="http://schemas.openxmlformats.org/drawingml/2006/main" noGrp="1"/>
          </p:cNvSpPr>
          <p:nvPr/>
        </p:nvSpPr>
        <p:spPr>
          <a:xfrm xmlns:a="http://schemas.openxmlformats.org/drawingml/2006/main">
            <a:off x="609600" y="25146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One small workflow works</a:t>
            </a:r>
          </a:p>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from screen to storage.</a:t>
            </a:r>
          </a:p>
        </p:txBody>
      </p:sp>
      <p:sp>
        <p:nvSpPr>
          <p:cNvPr id="6" name="">
            <a:extLst xmlns:a="http://schemas.openxmlformats.org/drawingml/2006/main">
              <a:ext uri="{FF2B5EF4-FFF2-40B4-BE49-F238E27FC236}">
                <a16:creationId xmlns:a16="http://schemas.microsoft.com/office/drawing/2014/main" id="{58339CEA-C1C6-46D4-9624-0966C7FF5DC0}"/>
              </a:ext>
            </a:extLst>
          </p:cNvPr>
          <p:cNvSpPr>
            <a:spLocks xmlns:a="http://schemas.openxmlformats.org/drawingml/2006/main" noGrp="1"/>
          </p:cNvSpPr>
          <p:nvPr/>
        </p:nvSpPr>
        <p:spPr>
          <a:xfrm xmlns:a="http://schemas.openxmlformats.org/drawingml/2006/main">
            <a:off x="609600" y="3819525"/>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A user completes a useful action.</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The app saves and retrieves real data.</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Validation and feedback support the action.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1cd3dea558842ad"/>
          <a:stretch xmlns:a="http://schemas.openxmlformats.org/drawingml/2006/main"/>
        </p:blipFill>
        <p:spPr>
          <a:xfrm xmlns:a="http://schemas.openxmlformats.org/drawingml/2006/main">
            <a:off x="5810250" y="2095500"/>
            <a:ext cx="5772150" cy="3848100"/>
          </a:xfrm>
          <a:prstGeom xmlns:a="http://schemas.openxmlformats.org/drawingml/2006/main" prst="rect">
            <a:avLst/>
          </a:prstGeom>
        </p:spPr>
      </p:pic>
    </p:spTree>
    <p:extLst>
      <p:ext uri="{BB962C8B-B14F-4D97-AF65-F5344CB8AC3E}">
        <p14:creationId xmlns:p14="http://schemas.microsoft.com/office/powerpoint/2010/main" val="1435349579"/>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F1D506E-D207-40E1-B261-AB004550F286}"/>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 118  /  SUGGESTED CHECKPOINTS</a:t>
            </a:r>
          </a:p>
        </p:txBody>
      </p:sp>
      <p:sp>
        <p:nvSpPr>
          <p:cNvPr id="2" name="">
            <a:extLst xmlns:a="http://schemas.openxmlformats.org/drawingml/2006/main">
              <a:ext uri="{FF2B5EF4-FFF2-40B4-BE49-F238E27FC236}">
                <a16:creationId xmlns:a16="http://schemas.microsoft.com/office/drawing/2014/main" id="{F92F797E-B8B4-4E02-9841-3FE7880758A9}"/>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118: A path to the first working workflow</a:t>
            </a:r>
          </a:p>
        </p:txBody>
      </p:sp>
      <p:sp>
        <p:nvSpPr>
          <p:cNvPr id="3" name="">
            <a:extLst xmlns:a="http://schemas.openxmlformats.org/drawingml/2006/main">
              <a:ext uri="{FF2B5EF4-FFF2-40B4-BE49-F238E27FC236}">
                <a16:creationId xmlns:a16="http://schemas.microsoft.com/office/drawing/2014/main" id="{3039FDB5-81F6-49D2-918E-F369365B55BD}"/>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8B3DB01E-A364-4A86-9283-5740EE3E25FD}"/>
              </a:ext>
            </a:extLst>
          </p:cNvPr>
          <p:cNvSpPr>
            <a:spLocks xmlns:a="http://schemas.openxmlformats.org/drawingml/2006/main" noGrp="1"/>
          </p:cNvSpPr>
          <p:nvPr/>
        </p:nvSpPr>
        <p:spPr>
          <a:xfrm xmlns:a="http://schemas.openxmlformats.org/drawingml/2006/main">
            <a:off x="609600" y="20097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Classes 1–2</a:t>
            </a:r>
          </a:p>
        </p:txBody>
      </p:sp>
      <p:sp>
        <p:nvSpPr>
          <p:cNvPr id="5" name="">
            <a:extLst xmlns:a="http://schemas.openxmlformats.org/drawingml/2006/main">
              <a:ext uri="{FF2B5EF4-FFF2-40B4-BE49-F238E27FC236}">
                <a16:creationId xmlns:a16="http://schemas.microsoft.com/office/drawing/2014/main" id="{9FDF4D8A-1207-4D46-B1B4-CDC8383F584C}"/>
              </a:ext>
            </a:extLst>
          </p:cNvPr>
          <p:cNvSpPr>
            <a:spLocks xmlns:a="http://schemas.openxmlformats.org/drawingml/2006/main" noGrp="1"/>
          </p:cNvSpPr>
          <p:nvPr/>
        </p:nvSpPr>
        <p:spPr>
          <a:xfrm xmlns:a="http://schemas.openxmlformats.org/drawingml/2006/main">
            <a:off x="3238500" y="2009775"/>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Choose the user journey and launch the project.</a:t>
            </a:r>
          </a:p>
        </p:txBody>
      </p:sp>
      <p:sp>
        <p:nvSpPr>
          <p:cNvPr id="6" name="">
            <a:extLst xmlns:a="http://schemas.openxmlformats.org/drawingml/2006/main">
              <a:ext uri="{FF2B5EF4-FFF2-40B4-BE49-F238E27FC236}">
                <a16:creationId xmlns:a16="http://schemas.microsoft.com/office/drawing/2014/main" id="{120096E3-F369-4B71-84C1-FDE7ADA3EA0A}"/>
              </a:ext>
            </a:extLst>
          </p:cNvPr>
          <p:cNvSpPr>
            <a:spLocks xmlns:a="http://schemas.openxmlformats.org/drawingml/2006/main" noGrp="1"/>
          </p:cNvSpPr>
          <p:nvPr/>
        </p:nvSpPr>
        <p:spPr>
          <a:xfrm xmlns:a="http://schemas.openxmlformats.org/drawingml/2006/main">
            <a:off x="609600" y="278130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3</a:t>
            </a:r>
          </a:p>
        </p:txBody>
      </p:sp>
      <p:sp>
        <p:nvSpPr>
          <p:cNvPr id="7" name="">
            <a:extLst xmlns:a="http://schemas.openxmlformats.org/drawingml/2006/main">
              <a:ext uri="{FF2B5EF4-FFF2-40B4-BE49-F238E27FC236}">
                <a16:creationId xmlns:a16="http://schemas.microsoft.com/office/drawing/2014/main" id="{44EB649B-295C-4B80-AFF2-5310EDA74129}"/>
              </a:ext>
            </a:extLst>
          </p:cNvPr>
          <p:cNvSpPr>
            <a:spLocks xmlns:a="http://schemas.openxmlformats.org/drawingml/2006/main" noGrp="1"/>
          </p:cNvSpPr>
          <p:nvPr/>
        </p:nvSpPr>
        <p:spPr>
          <a:xfrm xmlns:a="http://schemas.openxmlformats.org/drawingml/2006/main">
            <a:off x="3238500" y="278130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Create and retrieve one meaningful record.</a:t>
            </a:r>
          </a:p>
        </p:txBody>
      </p:sp>
      <p:sp>
        <p:nvSpPr>
          <p:cNvPr id="8" name="">
            <a:extLst xmlns:a="http://schemas.openxmlformats.org/drawingml/2006/main">
              <a:ext uri="{FF2B5EF4-FFF2-40B4-BE49-F238E27FC236}">
                <a16:creationId xmlns:a16="http://schemas.microsoft.com/office/drawing/2014/main" id="{903A2755-CE6B-4799-A2D0-FAD071E32BE6}"/>
              </a:ext>
            </a:extLst>
          </p:cNvPr>
          <p:cNvSpPr>
            <a:spLocks xmlns:a="http://schemas.openxmlformats.org/drawingml/2006/main" noGrp="1"/>
          </p:cNvSpPr>
          <p:nvPr/>
        </p:nvSpPr>
        <p:spPr>
          <a:xfrm xmlns:a="http://schemas.openxmlformats.org/drawingml/2006/main">
            <a:off x="609600" y="355282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4</a:t>
            </a:r>
          </a:p>
        </p:txBody>
      </p:sp>
      <p:sp>
        <p:nvSpPr>
          <p:cNvPr id="9" name="">
            <a:extLst xmlns:a="http://schemas.openxmlformats.org/drawingml/2006/main">
              <a:ext uri="{FF2B5EF4-FFF2-40B4-BE49-F238E27FC236}">
                <a16:creationId xmlns:a16="http://schemas.microsoft.com/office/drawing/2014/main" id="{4071B032-C2D1-4EA9-A4ED-98490C477731}"/>
              </a:ext>
            </a:extLst>
          </p:cNvPr>
          <p:cNvSpPr>
            <a:spLocks xmlns:a="http://schemas.openxmlformats.org/drawingml/2006/main" noGrp="1"/>
          </p:cNvSpPr>
          <p:nvPr/>
        </p:nvSpPr>
        <p:spPr>
          <a:xfrm xmlns:a="http://schemas.openxmlformats.org/drawingml/2006/main">
            <a:off x="3238500" y="3552825"/>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Implement identity and access where needed.</a:t>
            </a:r>
          </a:p>
        </p:txBody>
      </p:sp>
      <p:sp>
        <p:nvSpPr>
          <p:cNvPr id="10" name="">
            <a:extLst xmlns:a="http://schemas.openxmlformats.org/drawingml/2006/main">
              <a:ext uri="{FF2B5EF4-FFF2-40B4-BE49-F238E27FC236}">
                <a16:creationId xmlns:a16="http://schemas.microsoft.com/office/drawing/2014/main" id="{A340ACB4-2014-42CB-B999-B24C5ECE72A0}"/>
              </a:ext>
            </a:extLst>
          </p:cNvPr>
          <p:cNvSpPr>
            <a:spLocks xmlns:a="http://schemas.openxmlformats.org/drawingml/2006/main" noGrp="1"/>
          </p:cNvSpPr>
          <p:nvPr/>
        </p:nvSpPr>
        <p:spPr>
          <a:xfrm xmlns:a="http://schemas.openxmlformats.org/drawingml/2006/main">
            <a:off x="609600" y="432435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5</a:t>
            </a:r>
          </a:p>
        </p:txBody>
      </p:sp>
      <p:sp>
        <p:nvSpPr>
          <p:cNvPr id="11" name="">
            <a:extLst xmlns:a="http://schemas.openxmlformats.org/drawingml/2006/main">
              <a:ext uri="{FF2B5EF4-FFF2-40B4-BE49-F238E27FC236}">
                <a16:creationId xmlns:a16="http://schemas.microsoft.com/office/drawing/2014/main" id="{6BEF2309-C358-42E3-A97F-637D214F256B}"/>
              </a:ext>
            </a:extLst>
          </p:cNvPr>
          <p:cNvSpPr>
            <a:spLocks xmlns:a="http://schemas.openxmlformats.org/drawingml/2006/main" noGrp="1"/>
          </p:cNvSpPr>
          <p:nvPr/>
        </p:nvSpPr>
        <p:spPr>
          <a:xfrm xmlns:a="http://schemas.openxmlformats.org/drawingml/2006/main">
            <a:off x="3238500" y="4324350"/>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Connect the complete action and validate input.</a:t>
            </a:r>
          </a:p>
        </p:txBody>
      </p:sp>
      <p:sp>
        <p:nvSpPr>
          <p:cNvPr id="12" name="">
            <a:extLst xmlns:a="http://schemas.openxmlformats.org/drawingml/2006/main">
              <a:ext uri="{FF2B5EF4-FFF2-40B4-BE49-F238E27FC236}">
                <a16:creationId xmlns:a16="http://schemas.microsoft.com/office/drawing/2014/main" id="{484D796A-E540-47D4-8415-DD5284A5F457}"/>
              </a:ext>
            </a:extLst>
          </p:cNvPr>
          <p:cNvSpPr>
            <a:spLocks xmlns:a="http://schemas.openxmlformats.org/drawingml/2006/main" noGrp="1"/>
          </p:cNvSpPr>
          <p:nvPr/>
        </p:nvSpPr>
        <p:spPr>
          <a:xfrm xmlns:a="http://schemas.openxmlformats.org/drawingml/2006/main">
            <a:off x="609600" y="5095875"/>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6</a:t>
            </a:r>
          </a:p>
        </p:txBody>
      </p:sp>
      <p:sp>
        <p:nvSpPr>
          <p:cNvPr id="13" name="">
            <a:extLst xmlns:a="http://schemas.openxmlformats.org/drawingml/2006/main">
              <a:ext uri="{FF2B5EF4-FFF2-40B4-BE49-F238E27FC236}">
                <a16:creationId xmlns:a16="http://schemas.microsoft.com/office/drawing/2014/main" id="{6DEFCC06-82FE-4400-98F7-5AC0934CB56B}"/>
              </a:ext>
            </a:extLst>
          </p:cNvPr>
          <p:cNvSpPr>
            <a:spLocks xmlns:a="http://schemas.openxmlformats.org/drawingml/2006/main" noGrp="1"/>
          </p:cNvSpPr>
          <p:nvPr/>
        </p:nvSpPr>
        <p:spPr>
          <a:xfrm xmlns:a="http://schemas.openxmlformats.org/drawingml/2006/main">
            <a:off x="3238500" y="5095875"/>
            <a:ext cx="8191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Demonstrate the workflow and revise the scope.</a:t>
            </a:r>
          </a:p>
        </p:txBody>
      </p:sp>
    </p:spTree>
    <p:extLst>
      <p:ext uri="{BB962C8B-B14F-4D97-AF65-F5344CB8AC3E}">
        <p14:creationId xmlns:p14="http://schemas.microsoft.com/office/powerpoint/2010/main" val="145183665"/>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27D4F7-AA46-451A-BB77-1A5BBEF1E757}"/>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 119  /  CLASSES 7–12</a:t>
            </a:r>
          </a:p>
        </p:txBody>
      </p:sp>
      <p:sp>
        <p:nvSpPr>
          <p:cNvPr id="2" name="">
            <a:extLst xmlns:a="http://schemas.openxmlformats.org/drawingml/2006/main">
              <a:ext uri="{FF2B5EF4-FFF2-40B4-BE49-F238E27FC236}">
                <a16:creationId xmlns:a16="http://schemas.microsoft.com/office/drawing/2014/main" id="{89B1F864-BDEB-4AB6-A372-DCADF7533004}"/>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119: The MVP is complete</a:t>
            </a:r>
          </a:p>
        </p:txBody>
      </p:sp>
      <p:sp>
        <p:nvSpPr>
          <p:cNvPr id="3" name="">
            <a:extLst xmlns:a="http://schemas.openxmlformats.org/drawingml/2006/main">
              <a:ext uri="{FF2B5EF4-FFF2-40B4-BE49-F238E27FC236}">
                <a16:creationId xmlns:a16="http://schemas.microsoft.com/office/drawing/2014/main" id="{E7B2237C-2C29-452D-BCB9-CDAC4C7BDD69}"/>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87AB0B34-E461-4B50-B3D5-8E5DDBDAED9B}"/>
              </a:ext>
            </a:extLst>
          </p:cNvPr>
          <p:cNvSpPr>
            <a:spLocks xmlns:a="http://schemas.openxmlformats.org/drawingml/2006/main" noGrp="1"/>
          </p:cNvSpPr>
          <p:nvPr/>
        </p:nvSpPr>
        <p:spPr>
          <a:xfrm xmlns:a="http://schemas.openxmlformats.org/drawingml/2006/main">
            <a:off x="609600" y="20288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23939"/>
                </a:solidFill>
                <a:latin typeface="Helvetica Neue"/>
                <a:ea typeface="Helvetica Neue"/>
                <a:cs typeface="Helvetica Neue"/>
              </a:defRPr>
            </a:pPr>
            <a:r>
              <a:rPr sz="1950" b="1">
                <a:solidFill>
                  <a:srgbClr val="D23939"/>
                </a:solidFill>
                <a:latin typeface="Helvetica Neue"/>
                <a:ea typeface="Helvetica Neue"/>
                <a:cs typeface="Helvetica Neue"/>
              </a:rPr>
              <a:t>Finish line</a:t>
            </a:r>
          </a:p>
        </p:txBody>
      </p:sp>
      <p:sp>
        <p:nvSpPr>
          <p:cNvPr id="5" name="">
            <a:extLst xmlns:a="http://schemas.openxmlformats.org/drawingml/2006/main">
              <a:ext uri="{FF2B5EF4-FFF2-40B4-BE49-F238E27FC236}">
                <a16:creationId xmlns:a16="http://schemas.microsoft.com/office/drawing/2014/main" id="{074D4653-AB9F-4335-9B49-1216312FF8CA}"/>
              </a:ext>
            </a:extLst>
          </p:cNvPr>
          <p:cNvSpPr>
            <a:spLocks xmlns:a="http://schemas.openxmlformats.org/drawingml/2006/main" noGrp="1"/>
          </p:cNvSpPr>
          <p:nvPr/>
        </p:nvSpPr>
        <p:spPr>
          <a:xfrm xmlns:a="http://schemas.openxmlformats.org/drawingml/2006/main">
            <a:off x="609600" y="25146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Another person completes</a:t>
            </a:r>
          </a:p>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the essential journey.</a:t>
            </a:r>
          </a:p>
        </p:txBody>
      </p:sp>
      <p:sp>
        <p:nvSpPr>
          <p:cNvPr id="6" name="">
            <a:extLst xmlns:a="http://schemas.openxmlformats.org/drawingml/2006/main">
              <a:ext uri="{FF2B5EF4-FFF2-40B4-BE49-F238E27FC236}">
                <a16:creationId xmlns:a16="http://schemas.microsoft.com/office/drawing/2014/main" id="{BC0F6A28-B98E-43E3-9513-FE38F946C754}"/>
              </a:ext>
            </a:extLst>
          </p:cNvPr>
          <p:cNvSpPr>
            <a:spLocks xmlns:a="http://schemas.openxmlformats.org/drawingml/2006/main" noGrp="1"/>
          </p:cNvSpPr>
          <p:nvPr/>
        </p:nvSpPr>
        <p:spPr>
          <a:xfrm xmlns:a="http://schemas.openxmlformats.org/drawingml/2006/main">
            <a:off x="609600" y="3781425"/>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Essential features connect.</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Empty and error states make sense.</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Core tests repeat reliably.</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User feedback produces an improvement.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4ca1d2087004f23"/>
          <a:stretch xmlns:a="http://schemas.openxmlformats.org/drawingml/2006/main"/>
        </p:blipFill>
        <p:spPr>
          <a:xfrm xmlns:a="http://schemas.openxmlformats.org/drawingml/2006/main">
            <a:off x="5810250" y="2095500"/>
            <a:ext cx="5772150" cy="3848100"/>
          </a:xfrm>
          <a:prstGeom xmlns:a="http://schemas.openxmlformats.org/drawingml/2006/main" prst="rect">
            <a:avLst/>
          </a:prstGeom>
        </p:spPr>
      </p:pic>
    </p:spTree>
    <p:extLst>
      <p:ext uri="{BB962C8B-B14F-4D97-AF65-F5344CB8AC3E}">
        <p14:creationId xmlns:p14="http://schemas.microsoft.com/office/powerpoint/2010/main" val="1653736318"/>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620BE6E-BBA4-4479-9D99-D7867534F4F8}"/>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 119  /  SUGGESTED CHECKPOINTS</a:t>
            </a:r>
          </a:p>
        </p:txBody>
      </p:sp>
      <p:sp>
        <p:nvSpPr>
          <p:cNvPr id="2" name="">
            <a:extLst xmlns:a="http://schemas.openxmlformats.org/drawingml/2006/main">
              <a:ext uri="{FF2B5EF4-FFF2-40B4-BE49-F238E27FC236}">
                <a16:creationId xmlns:a16="http://schemas.microsoft.com/office/drawing/2014/main" id="{93250C95-7A86-41C4-83FC-BB804EF46E73}"/>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119: A path to a complete MVP</a:t>
            </a:r>
          </a:p>
        </p:txBody>
      </p:sp>
      <p:sp>
        <p:nvSpPr>
          <p:cNvPr id="3" name="">
            <a:extLst xmlns:a="http://schemas.openxmlformats.org/drawingml/2006/main">
              <a:ext uri="{FF2B5EF4-FFF2-40B4-BE49-F238E27FC236}">
                <a16:creationId xmlns:a16="http://schemas.microsoft.com/office/drawing/2014/main" id="{2248B422-66BE-42BB-833E-4BFC563FBBD2}"/>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1FB25785-6979-46AF-86F9-0CBC9B0EF18F}"/>
              </a:ext>
            </a:extLst>
          </p:cNvPr>
          <p:cNvSpPr>
            <a:spLocks xmlns:a="http://schemas.openxmlformats.org/drawingml/2006/main" noGrp="1"/>
          </p:cNvSpPr>
          <p:nvPr/>
        </p:nvSpPr>
        <p:spPr>
          <a:xfrm xmlns:a="http://schemas.openxmlformats.org/drawingml/2006/main">
            <a:off x="609600" y="19145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1</a:t>
            </a:r>
          </a:p>
        </p:txBody>
      </p:sp>
      <p:sp>
        <p:nvSpPr>
          <p:cNvPr id="5" name="">
            <a:extLst xmlns:a="http://schemas.openxmlformats.org/drawingml/2006/main">
              <a:ext uri="{FF2B5EF4-FFF2-40B4-BE49-F238E27FC236}">
                <a16:creationId xmlns:a16="http://schemas.microsoft.com/office/drawing/2014/main" id="{2FCF814D-5C99-4668-9214-A16791D22760}"/>
              </a:ext>
            </a:extLst>
          </p:cNvPr>
          <p:cNvSpPr>
            <a:spLocks xmlns:a="http://schemas.openxmlformats.org/drawingml/2006/main" noGrp="1"/>
          </p:cNvSpPr>
          <p:nvPr/>
        </p:nvSpPr>
        <p:spPr>
          <a:xfrm xmlns:a="http://schemas.openxmlformats.org/drawingml/2006/main">
            <a:off x="3238500" y="19145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Build the next essential part of the user journey.</a:t>
            </a:r>
          </a:p>
        </p:txBody>
      </p:sp>
      <p:sp>
        <p:nvSpPr>
          <p:cNvPr id="6" name="">
            <a:extLst xmlns:a="http://schemas.openxmlformats.org/drawingml/2006/main">
              <a:ext uri="{FF2B5EF4-FFF2-40B4-BE49-F238E27FC236}">
                <a16:creationId xmlns:a16="http://schemas.microsoft.com/office/drawing/2014/main" id="{4AAD980C-8D6C-4489-861D-25F8618A4D5B}"/>
              </a:ext>
            </a:extLst>
          </p:cNvPr>
          <p:cNvSpPr>
            <a:spLocks xmlns:a="http://schemas.openxmlformats.org/drawingml/2006/main" noGrp="1"/>
          </p:cNvSpPr>
          <p:nvPr/>
        </p:nvSpPr>
        <p:spPr>
          <a:xfrm xmlns:a="http://schemas.openxmlformats.org/drawingml/2006/main">
            <a:off x="609600" y="26003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2</a:t>
            </a:r>
          </a:p>
        </p:txBody>
      </p:sp>
      <p:sp>
        <p:nvSpPr>
          <p:cNvPr id="7" name="">
            <a:extLst xmlns:a="http://schemas.openxmlformats.org/drawingml/2006/main">
              <a:ext uri="{FF2B5EF4-FFF2-40B4-BE49-F238E27FC236}">
                <a16:creationId xmlns:a16="http://schemas.microsoft.com/office/drawing/2014/main" id="{2DF08A91-7143-4C7B-836B-6C801E4E2415}"/>
              </a:ext>
            </a:extLst>
          </p:cNvPr>
          <p:cNvSpPr>
            <a:spLocks xmlns:a="http://schemas.openxmlformats.org/drawingml/2006/main" noGrp="1"/>
          </p:cNvSpPr>
          <p:nvPr/>
        </p:nvSpPr>
        <p:spPr>
          <a:xfrm xmlns:a="http://schemas.openxmlformats.org/drawingml/2006/main">
            <a:off x="3238500" y="26003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Handle empty, loading, error and success states.</a:t>
            </a:r>
          </a:p>
        </p:txBody>
      </p:sp>
      <p:sp>
        <p:nvSpPr>
          <p:cNvPr id="8" name="">
            <a:extLst xmlns:a="http://schemas.openxmlformats.org/drawingml/2006/main">
              <a:ext uri="{FF2B5EF4-FFF2-40B4-BE49-F238E27FC236}">
                <a16:creationId xmlns:a16="http://schemas.microsoft.com/office/drawing/2014/main" id="{16A9B422-6D5D-4411-A8BD-96C3E6823B2B}"/>
              </a:ext>
            </a:extLst>
          </p:cNvPr>
          <p:cNvSpPr>
            <a:spLocks xmlns:a="http://schemas.openxmlformats.org/drawingml/2006/main" noGrp="1"/>
          </p:cNvSpPr>
          <p:nvPr/>
        </p:nvSpPr>
        <p:spPr>
          <a:xfrm xmlns:a="http://schemas.openxmlformats.org/drawingml/2006/main">
            <a:off x="609600" y="3286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3</a:t>
            </a:r>
          </a:p>
        </p:txBody>
      </p:sp>
      <p:sp>
        <p:nvSpPr>
          <p:cNvPr id="9" name="">
            <a:extLst xmlns:a="http://schemas.openxmlformats.org/drawingml/2006/main">
              <a:ext uri="{FF2B5EF4-FFF2-40B4-BE49-F238E27FC236}">
                <a16:creationId xmlns:a16="http://schemas.microsoft.com/office/drawing/2014/main" id="{6AFEB916-3CF6-493A-A799-4AC1FDADC46E}"/>
              </a:ext>
            </a:extLst>
          </p:cNvPr>
          <p:cNvSpPr>
            <a:spLocks xmlns:a="http://schemas.openxmlformats.org/drawingml/2006/main" noGrp="1"/>
          </p:cNvSpPr>
          <p:nvPr/>
        </p:nvSpPr>
        <p:spPr>
          <a:xfrm xmlns:a="http://schemas.openxmlformats.org/drawingml/2006/main">
            <a:off x="3238500" y="32861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Implement the hardest essential rule or integration.</a:t>
            </a:r>
          </a:p>
        </p:txBody>
      </p:sp>
      <p:sp>
        <p:nvSpPr>
          <p:cNvPr id="10" name="">
            <a:extLst xmlns:a="http://schemas.openxmlformats.org/drawingml/2006/main">
              <a:ext uri="{FF2B5EF4-FFF2-40B4-BE49-F238E27FC236}">
                <a16:creationId xmlns:a16="http://schemas.microsoft.com/office/drawing/2014/main" id="{F3F23A77-A074-45CB-8DD3-8725305CE5E3}"/>
              </a:ext>
            </a:extLst>
          </p:cNvPr>
          <p:cNvSpPr>
            <a:spLocks xmlns:a="http://schemas.openxmlformats.org/drawingml/2006/main" noGrp="1"/>
          </p:cNvSpPr>
          <p:nvPr/>
        </p:nvSpPr>
        <p:spPr>
          <a:xfrm xmlns:a="http://schemas.openxmlformats.org/drawingml/2006/main">
            <a:off x="609600" y="39719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4</a:t>
            </a:r>
          </a:p>
        </p:txBody>
      </p:sp>
      <p:sp>
        <p:nvSpPr>
          <p:cNvPr id="11" name="">
            <a:extLst xmlns:a="http://schemas.openxmlformats.org/drawingml/2006/main">
              <a:ext uri="{FF2B5EF4-FFF2-40B4-BE49-F238E27FC236}">
                <a16:creationId xmlns:a16="http://schemas.microsoft.com/office/drawing/2014/main" id="{678A3F4A-234C-4FD3-819E-979A50854331}"/>
              </a:ext>
            </a:extLst>
          </p:cNvPr>
          <p:cNvSpPr>
            <a:spLocks xmlns:a="http://schemas.openxmlformats.org/drawingml/2006/main" noGrp="1"/>
          </p:cNvSpPr>
          <p:nvPr/>
        </p:nvSpPr>
        <p:spPr>
          <a:xfrm xmlns:a="http://schemas.openxmlformats.org/drawingml/2006/main">
            <a:off x="3238500" y="39719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Test the core journey and repeat the checks.</a:t>
            </a:r>
          </a:p>
        </p:txBody>
      </p:sp>
      <p:sp>
        <p:nvSpPr>
          <p:cNvPr id="12" name="">
            <a:extLst xmlns:a="http://schemas.openxmlformats.org/drawingml/2006/main">
              <a:ext uri="{FF2B5EF4-FFF2-40B4-BE49-F238E27FC236}">
                <a16:creationId xmlns:a16="http://schemas.microsoft.com/office/drawing/2014/main" id="{21C18174-C36E-447B-BD63-1C9774601258}"/>
              </a:ext>
            </a:extLst>
          </p:cNvPr>
          <p:cNvSpPr>
            <a:spLocks xmlns:a="http://schemas.openxmlformats.org/drawingml/2006/main" noGrp="1"/>
          </p:cNvSpPr>
          <p:nvPr/>
        </p:nvSpPr>
        <p:spPr>
          <a:xfrm xmlns:a="http://schemas.openxmlformats.org/drawingml/2006/main">
            <a:off x="609600" y="46577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5</a:t>
            </a:r>
          </a:p>
        </p:txBody>
      </p:sp>
      <p:sp>
        <p:nvSpPr>
          <p:cNvPr id="13" name="">
            <a:extLst xmlns:a="http://schemas.openxmlformats.org/drawingml/2006/main">
              <a:ext uri="{FF2B5EF4-FFF2-40B4-BE49-F238E27FC236}">
                <a16:creationId xmlns:a16="http://schemas.microsoft.com/office/drawing/2014/main" id="{91FEC14B-AA91-4D60-9DCF-038ED07CE21C}"/>
              </a:ext>
            </a:extLst>
          </p:cNvPr>
          <p:cNvSpPr>
            <a:spLocks xmlns:a="http://schemas.openxmlformats.org/drawingml/2006/main" noGrp="1"/>
          </p:cNvSpPr>
          <p:nvPr/>
        </p:nvSpPr>
        <p:spPr>
          <a:xfrm xmlns:a="http://schemas.openxmlformats.org/drawingml/2006/main">
            <a:off x="3238500" y="46577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Observe a new user and improve one friction point.</a:t>
            </a:r>
          </a:p>
        </p:txBody>
      </p:sp>
      <p:sp>
        <p:nvSpPr>
          <p:cNvPr id="14" name="">
            <a:extLst xmlns:a="http://schemas.openxmlformats.org/drawingml/2006/main">
              <a:ext uri="{FF2B5EF4-FFF2-40B4-BE49-F238E27FC236}">
                <a16:creationId xmlns:a16="http://schemas.microsoft.com/office/drawing/2014/main" id="{A745300E-4EF6-4224-81C4-1E482095E3FA}"/>
              </a:ext>
            </a:extLst>
          </p:cNvPr>
          <p:cNvSpPr>
            <a:spLocks xmlns:a="http://schemas.openxmlformats.org/drawingml/2006/main" noGrp="1"/>
          </p:cNvSpPr>
          <p:nvPr/>
        </p:nvSpPr>
        <p:spPr>
          <a:xfrm xmlns:a="http://schemas.openxmlformats.org/drawingml/2006/main">
            <a:off x="609600" y="53435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6</a:t>
            </a:r>
          </a:p>
        </p:txBody>
      </p:sp>
      <p:sp>
        <p:nvSpPr>
          <p:cNvPr id="15" name="">
            <a:extLst xmlns:a="http://schemas.openxmlformats.org/drawingml/2006/main">
              <a:ext uri="{FF2B5EF4-FFF2-40B4-BE49-F238E27FC236}">
                <a16:creationId xmlns:a16="http://schemas.microsoft.com/office/drawing/2014/main" id="{CAEAE61F-3661-443A-A4B0-9DA89A2D33C5}"/>
              </a:ext>
            </a:extLst>
          </p:cNvPr>
          <p:cNvSpPr>
            <a:spLocks xmlns:a="http://schemas.openxmlformats.org/drawingml/2006/main" noGrp="1"/>
          </p:cNvSpPr>
          <p:nvPr/>
        </p:nvSpPr>
        <p:spPr>
          <a:xfrm xmlns:a="http://schemas.openxmlformats.org/drawingml/2006/main">
            <a:off x="3238500" y="53435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Demonstrate the MVP and freeze the feature scope.</a:t>
            </a:r>
          </a:p>
        </p:txBody>
      </p:sp>
    </p:spTree>
    <p:extLst>
      <p:ext uri="{BB962C8B-B14F-4D97-AF65-F5344CB8AC3E}">
        <p14:creationId xmlns:p14="http://schemas.microsoft.com/office/powerpoint/2010/main" val="1862288649"/>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64AA37-541C-493A-9324-B06274AB61A4}"/>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 120  /  CLASSES 13–18</a:t>
            </a:r>
          </a:p>
        </p:txBody>
      </p:sp>
      <p:sp>
        <p:nvSpPr>
          <p:cNvPr id="2" name="">
            <a:extLst xmlns:a="http://schemas.openxmlformats.org/drawingml/2006/main">
              <a:ext uri="{FF2B5EF4-FFF2-40B4-BE49-F238E27FC236}">
                <a16:creationId xmlns:a16="http://schemas.microsoft.com/office/drawing/2014/main" id="{E1153A89-0BDC-48A8-B907-27BA2B0A32A4}"/>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120: The product is ready to deliver</a:t>
            </a:r>
          </a:p>
        </p:txBody>
      </p:sp>
      <p:sp>
        <p:nvSpPr>
          <p:cNvPr id="3" name="">
            <a:extLst xmlns:a="http://schemas.openxmlformats.org/drawingml/2006/main">
              <a:ext uri="{FF2B5EF4-FFF2-40B4-BE49-F238E27FC236}">
                <a16:creationId xmlns:a16="http://schemas.microsoft.com/office/drawing/2014/main" id="{730458EA-8BD6-43AE-A5A3-492E7A14E34F}"/>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E3876298-A6C8-40C7-BAEF-29D841202896}"/>
              </a:ext>
            </a:extLst>
          </p:cNvPr>
          <p:cNvSpPr>
            <a:spLocks xmlns:a="http://schemas.openxmlformats.org/drawingml/2006/main" noGrp="1"/>
          </p:cNvSpPr>
          <p:nvPr/>
        </p:nvSpPr>
        <p:spPr>
          <a:xfrm xmlns:a="http://schemas.openxmlformats.org/drawingml/2006/main">
            <a:off x="609600" y="202882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23939"/>
                </a:solidFill>
                <a:latin typeface="Helvetica Neue"/>
                <a:ea typeface="Helvetica Neue"/>
                <a:cs typeface="Helvetica Neue"/>
              </a:defRPr>
            </a:pPr>
            <a:r>
              <a:rPr sz="1950" b="1">
                <a:solidFill>
                  <a:srgbClr val="D23939"/>
                </a:solidFill>
                <a:latin typeface="Helvetica Neue"/>
                <a:ea typeface="Helvetica Neue"/>
                <a:cs typeface="Helvetica Neue"/>
              </a:rPr>
              <a:t>Finish line</a:t>
            </a:r>
          </a:p>
        </p:txBody>
      </p:sp>
      <p:sp>
        <p:nvSpPr>
          <p:cNvPr id="5" name="">
            <a:extLst xmlns:a="http://schemas.openxmlformats.org/drawingml/2006/main">
              <a:ext uri="{FF2B5EF4-FFF2-40B4-BE49-F238E27FC236}">
                <a16:creationId xmlns:a16="http://schemas.microsoft.com/office/drawing/2014/main" id="{1DD3AC5F-840F-4623-9FE7-564267E1D4D5}"/>
              </a:ext>
            </a:extLst>
          </p:cNvPr>
          <p:cNvSpPr>
            <a:spLocks xmlns:a="http://schemas.openxmlformats.org/drawingml/2006/main" noGrp="1"/>
          </p:cNvSpPr>
          <p:nvPr/>
        </p:nvSpPr>
        <p:spPr>
          <a:xfrm xmlns:a="http://schemas.openxmlformats.org/drawingml/2006/main">
            <a:off x="609600" y="25146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A tested release that</a:t>
            </a:r>
          </a:p>
          <a:p xmlns:a="http://schemas.openxmlformats.org/drawingml/2006/main">
            <a:pPr>
              <a:defRPr sz="2550" b="1">
                <a:solidFill>
                  <a:srgbClr val="20262D"/>
                </a:solidFill>
                <a:latin typeface="Helvetica Neue"/>
                <a:ea typeface="Helvetica Neue"/>
                <a:cs typeface="Helvetica Neue"/>
              </a:defRPr>
            </a:pPr>
            <a:r>
              <a:rPr sz="2550" b="1">
                <a:solidFill>
                  <a:srgbClr val="20262D"/>
                </a:solidFill>
                <a:latin typeface="Helvetica Neue"/>
                <a:ea typeface="Helvetica Neue"/>
                <a:cs typeface="Helvetica Neue"/>
              </a:rPr>
              <a:t>others can access.</a:t>
            </a:r>
          </a:p>
        </p:txBody>
      </p:sp>
      <p:sp>
        <p:nvSpPr>
          <p:cNvPr id="6" name="">
            <a:extLst xmlns:a="http://schemas.openxmlformats.org/drawingml/2006/main">
              <a:ext uri="{FF2B5EF4-FFF2-40B4-BE49-F238E27FC236}">
                <a16:creationId xmlns:a16="http://schemas.microsoft.com/office/drawing/2014/main" id="{4D257390-3F80-47F4-A195-724BE9EE4C38}"/>
              </a:ext>
            </a:extLst>
          </p:cNvPr>
          <p:cNvSpPr>
            <a:spLocks xmlns:a="http://schemas.openxmlformats.org/drawingml/2006/main" noGrp="1"/>
          </p:cNvSpPr>
          <p:nvPr/>
        </p:nvSpPr>
        <p:spPr>
          <a:xfrm xmlns:a="http://schemas.openxmlformats.org/drawingml/2006/main">
            <a:off x="609600" y="3781425"/>
            <a:ext cx="4857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Fix serious issues and polish usability.</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Repeat the build and core checks.</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Provide a web link or mobile build.</a:t>
            </a:r>
          </a:p>
          <a:p xmlns:a="http://schemas.openxmlformats.org/drawingml/2006/main">
            <a:pPr>
              <a:defRPr sz="2025" b="0">
                <a:solidFill>
                  <a:srgbClr val="5D6670"/>
                </a:solidFill>
                <a:latin typeface="Helvetica Neue"/>
                <a:ea typeface="Helvetica Neue"/>
                <a:cs typeface="Helvetica Neue"/>
              </a:defRPr>
            </a:pPr>
            <a:r>
              <a:rPr sz="2025" b="0">
                <a:solidFill>
                  <a:srgbClr val="5D6670"/>
                </a:solidFill>
                <a:latin typeface="Helvetica Neue"/>
                <a:ea typeface="Helvetica Neue"/>
                <a:cs typeface="Helvetica Neue"/>
              </a:rPr>
              <a:t>Demonstrate results with evidence.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1f2d8e5b91e4328"/>
          <a:stretch xmlns:a="http://schemas.openxmlformats.org/drawingml/2006/main"/>
        </p:blipFill>
        <p:spPr>
          <a:xfrm xmlns:a="http://schemas.openxmlformats.org/drawingml/2006/main">
            <a:off x="5810250" y="2095500"/>
            <a:ext cx="5772150" cy="3848100"/>
          </a:xfrm>
          <a:prstGeom xmlns:a="http://schemas.openxmlformats.org/drawingml/2006/main" prst="rect">
            <a:avLst/>
          </a:prstGeom>
        </p:spPr>
      </p:pic>
    </p:spTree>
    <p:extLst>
      <p:ext uri="{BB962C8B-B14F-4D97-AF65-F5344CB8AC3E}">
        <p14:creationId xmlns:p14="http://schemas.microsoft.com/office/powerpoint/2010/main" val="409775403"/>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DE1CC69-9086-4FBF-BCC4-6B27727E5186}"/>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 120  /  SUGGESTED CHECKPOINTS</a:t>
            </a:r>
          </a:p>
        </p:txBody>
      </p:sp>
      <p:sp>
        <p:nvSpPr>
          <p:cNvPr id="2" name="">
            <a:extLst xmlns:a="http://schemas.openxmlformats.org/drawingml/2006/main">
              <a:ext uri="{FF2B5EF4-FFF2-40B4-BE49-F238E27FC236}">
                <a16:creationId xmlns:a16="http://schemas.microsoft.com/office/drawing/2014/main" id="{7F2A5586-44DE-436B-A78D-1C633C1139A1}"/>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120: A path to a reliable release</a:t>
            </a:r>
          </a:p>
        </p:txBody>
      </p:sp>
      <p:sp>
        <p:nvSpPr>
          <p:cNvPr id="3" name="">
            <a:extLst xmlns:a="http://schemas.openxmlformats.org/drawingml/2006/main">
              <a:ext uri="{FF2B5EF4-FFF2-40B4-BE49-F238E27FC236}">
                <a16:creationId xmlns:a16="http://schemas.microsoft.com/office/drawing/2014/main" id="{63E399B1-16A0-4ED8-99BD-5876104D833E}"/>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DBB0E307-58BC-43AA-9595-0CE14761A8FD}"/>
              </a:ext>
            </a:extLst>
          </p:cNvPr>
          <p:cNvSpPr>
            <a:spLocks xmlns:a="http://schemas.openxmlformats.org/drawingml/2006/main" noGrp="1"/>
          </p:cNvSpPr>
          <p:nvPr/>
        </p:nvSpPr>
        <p:spPr>
          <a:xfrm xmlns:a="http://schemas.openxmlformats.org/drawingml/2006/main">
            <a:off x="609600" y="19145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1</a:t>
            </a:r>
          </a:p>
        </p:txBody>
      </p:sp>
      <p:sp>
        <p:nvSpPr>
          <p:cNvPr id="5" name="">
            <a:extLst xmlns:a="http://schemas.openxmlformats.org/drawingml/2006/main">
              <a:ext uri="{FF2B5EF4-FFF2-40B4-BE49-F238E27FC236}">
                <a16:creationId xmlns:a16="http://schemas.microsoft.com/office/drawing/2014/main" id="{2A00E299-2D34-4A61-92F3-ACFF4BC0EE55}"/>
              </a:ext>
            </a:extLst>
          </p:cNvPr>
          <p:cNvSpPr>
            <a:spLocks xmlns:a="http://schemas.openxmlformats.org/drawingml/2006/main" noGrp="1"/>
          </p:cNvSpPr>
          <p:nvPr/>
        </p:nvSpPr>
        <p:spPr>
          <a:xfrm xmlns:a="http://schemas.openxmlformats.org/drawingml/2006/main">
            <a:off x="3238500" y="19145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Fix the most serious issues in the core experience.</a:t>
            </a:r>
          </a:p>
        </p:txBody>
      </p:sp>
      <p:sp>
        <p:nvSpPr>
          <p:cNvPr id="6" name="">
            <a:extLst xmlns:a="http://schemas.openxmlformats.org/drawingml/2006/main">
              <a:ext uri="{FF2B5EF4-FFF2-40B4-BE49-F238E27FC236}">
                <a16:creationId xmlns:a16="http://schemas.microsoft.com/office/drawing/2014/main" id="{3027B7A7-B733-4422-9E4B-066AFDC4FCD9}"/>
              </a:ext>
            </a:extLst>
          </p:cNvPr>
          <p:cNvSpPr>
            <a:spLocks xmlns:a="http://schemas.openxmlformats.org/drawingml/2006/main" noGrp="1"/>
          </p:cNvSpPr>
          <p:nvPr/>
        </p:nvSpPr>
        <p:spPr>
          <a:xfrm xmlns:a="http://schemas.openxmlformats.org/drawingml/2006/main">
            <a:off x="609600" y="26003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2</a:t>
            </a:r>
          </a:p>
        </p:txBody>
      </p:sp>
      <p:sp>
        <p:nvSpPr>
          <p:cNvPr id="7" name="">
            <a:extLst xmlns:a="http://schemas.openxmlformats.org/drawingml/2006/main">
              <a:ext uri="{FF2B5EF4-FFF2-40B4-BE49-F238E27FC236}">
                <a16:creationId xmlns:a16="http://schemas.microsoft.com/office/drawing/2014/main" id="{5A2FD081-2E4F-49E4-AA49-3C5B68E9C171}"/>
              </a:ext>
            </a:extLst>
          </p:cNvPr>
          <p:cNvSpPr>
            <a:spLocks xmlns:a="http://schemas.openxmlformats.org/drawingml/2006/main" noGrp="1"/>
          </p:cNvSpPr>
          <p:nvPr/>
        </p:nvSpPr>
        <p:spPr>
          <a:xfrm xmlns:a="http://schemas.openxmlformats.org/drawingml/2006/main">
            <a:off x="3238500" y="26003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Improve usability, accessibility and perceived speed.</a:t>
            </a:r>
          </a:p>
        </p:txBody>
      </p:sp>
      <p:sp>
        <p:nvSpPr>
          <p:cNvPr id="8" name="">
            <a:extLst xmlns:a="http://schemas.openxmlformats.org/drawingml/2006/main">
              <a:ext uri="{FF2B5EF4-FFF2-40B4-BE49-F238E27FC236}">
                <a16:creationId xmlns:a16="http://schemas.microsoft.com/office/drawing/2014/main" id="{175712FC-CD62-4B1B-9871-8C36EADCA07C}"/>
              </a:ext>
            </a:extLst>
          </p:cNvPr>
          <p:cNvSpPr>
            <a:spLocks xmlns:a="http://schemas.openxmlformats.org/drawingml/2006/main" noGrp="1"/>
          </p:cNvSpPr>
          <p:nvPr/>
        </p:nvSpPr>
        <p:spPr>
          <a:xfrm xmlns:a="http://schemas.openxmlformats.org/drawingml/2006/main">
            <a:off x="609600" y="3286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3</a:t>
            </a:r>
          </a:p>
        </p:txBody>
      </p:sp>
      <p:sp>
        <p:nvSpPr>
          <p:cNvPr id="9" name="">
            <a:extLst xmlns:a="http://schemas.openxmlformats.org/drawingml/2006/main">
              <a:ext uri="{FF2B5EF4-FFF2-40B4-BE49-F238E27FC236}">
                <a16:creationId xmlns:a16="http://schemas.microsoft.com/office/drawing/2014/main" id="{2590C3AC-4C14-4606-B570-B04854CF337B}"/>
              </a:ext>
            </a:extLst>
          </p:cNvPr>
          <p:cNvSpPr>
            <a:spLocks xmlns:a="http://schemas.openxmlformats.org/drawingml/2006/main" noGrp="1"/>
          </p:cNvSpPr>
          <p:nvPr/>
        </p:nvSpPr>
        <p:spPr>
          <a:xfrm xmlns:a="http://schemas.openxmlformats.org/drawingml/2006/main">
            <a:off x="3238500" y="32861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Make the build and delivery process repeatable.</a:t>
            </a:r>
          </a:p>
        </p:txBody>
      </p:sp>
      <p:sp>
        <p:nvSpPr>
          <p:cNvPr id="10" name="">
            <a:extLst xmlns:a="http://schemas.openxmlformats.org/drawingml/2006/main">
              <a:ext uri="{FF2B5EF4-FFF2-40B4-BE49-F238E27FC236}">
                <a16:creationId xmlns:a16="http://schemas.microsoft.com/office/drawing/2014/main" id="{516DE909-77D4-499E-B01B-48A4A09F2B6A}"/>
              </a:ext>
            </a:extLst>
          </p:cNvPr>
          <p:cNvSpPr>
            <a:spLocks xmlns:a="http://schemas.openxmlformats.org/drawingml/2006/main" noGrp="1"/>
          </p:cNvSpPr>
          <p:nvPr/>
        </p:nvSpPr>
        <p:spPr>
          <a:xfrm xmlns:a="http://schemas.openxmlformats.org/drawingml/2006/main">
            <a:off x="609600" y="39719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4</a:t>
            </a:r>
          </a:p>
        </p:txBody>
      </p:sp>
      <p:sp>
        <p:nvSpPr>
          <p:cNvPr id="11" name="">
            <a:extLst xmlns:a="http://schemas.openxmlformats.org/drawingml/2006/main">
              <a:ext uri="{FF2B5EF4-FFF2-40B4-BE49-F238E27FC236}">
                <a16:creationId xmlns:a16="http://schemas.microsoft.com/office/drawing/2014/main" id="{A3F1CE44-C5A6-4E47-9608-D19FEC1CA991}"/>
              </a:ext>
            </a:extLst>
          </p:cNvPr>
          <p:cNvSpPr>
            <a:spLocks xmlns:a="http://schemas.openxmlformats.org/drawingml/2006/main" noGrp="1"/>
          </p:cNvSpPr>
          <p:nvPr/>
        </p:nvSpPr>
        <p:spPr>
          <a:xfrm xmlns:a="http://schemas.openxmlformats.org/drawingml/2006/main">
            <a:off x="3238500" y="39719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Test the release under realistic failure conditions.</a:t>
            </a:r>
          </a:p>
        </p:txBody>
      </p:sp>
      <p:sp>
        <p:nvSpPr>
          <p:cNvPr id="12" name="">
            <a:extLst xmlns:a="http://schemas.openxmlformats.org/drawingml/2006/main">
              <a:ext uri="{FF2B5EF4-FFF2-40B4-BE49-F238E27FC236}">
                <a16:creationId xmlns:a16="http://schemas.microsoft.com/office/drawing/2014/main" id="{E1B2B334-6940-4F29-884C-B26093511974}"/>
              </a:ext>
            </a:extLst>
          </p:cNvPr>
          <p:cNvSpPr>
            <a:spLocks xmlns:a="http://schemas.openxmlformats.org/drawingml/2006/main" noGrp="1"/>
          </p:cNvSpPr>
          <p:nvPr/>
        </p:nvSpPr>
        <p:spPr>
          <a:xfrm xmlns:a="http://schemas.openxmlformats.org/drawingml/2006/main">
            <a:off x="609600" y="46577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5</a:t>
            </a:r>
          </a:p>
        </p:txBody>
      </p:sp>
      <p:sp>
        <p:nvSpPr>
          <p:cNvPr id="13" name="">
            <a:extLst xmlns:a="http://schemas.openxmlformats.org/drawingml/2006/main">
              <a:ext uri="{FF2B5EF4-FFF2-40B4-BE49-F238E27FC236}">
                <a16:creationId xmlns:a16="http://schemas.microsoft.com/office/drawing/2014/main" id="{04DA9417-B906-49E0-A1CE-2125811176CA}"/>
              </a:ext>
            </a:extLst>
          </p:cNvPr>
          <p:cNvSpPr>
            <a:spLocks xmlns:a="http://schemas.openxmlformats.org/drawingml/2006/main" noGrp="1"/>
          </p:cNvSpPr>
          <p:nvPr/>
        </p:nvSpPr>
        <p:spPr>
          <a:xfrm xmlns:a="http://schemas.openxmlformats.org/drawingml/2006/main">
            <a:off x="3238500" y="46577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Rehearse the demo with evidence and decisions.</a:t>
            </a:r>
          </a:p>
        </p:txBody>
      </p:sp>
      <p:sp>
        <p:nvSpPr>
          <p:cNvPr id="14" name="">
            <a:extLst xmlns:a="http://schemas.openxmlformats.org/drawingml/2006/main">
              <a:ext uri="{FF2B5EF4-FFF2-40B4-BE49-F238E27FC236}">
                <a16:creationId xmlns:a16="http://schemas.microsoft.com/office/drawing/2014/main" id="{A7DED487-D97A-4D82-863A-50B7C4E8044E}"/>
              </a:ext>
            </a:extLst>
          </p:cNvPr>
          <p:cNvSpPr>
            <a:spLocks xmlns:a="http://schemas.openxmlformats.org/drawingml/2006/main" noGrp="1"/>
          </p:cNvSpPr>
          <p:nvPr/>
        </p:nvSpPr>
        <p:spPr>
          <a:xfrm xmlns:a="http://schemas.openxmlformats.org/drawingml/2006/main">
            <a:off x="609600" y="53435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23939"/>
                </a:solidFill>
                <a:latin typeface="Helvetica Neue"/>
                <a:ea typeface="Helvetica Neue"/>
                <a:cs typeface="Helvetica Neue"/>
              </a:defRPr>
            </a:pPr>
            <a:r>
              <a:rPr sz="2025" b="1">
                <a:solidFill>
                  <a:srgbClr val="D23939"/>
                </a:solidFill>
                <a:latin typeface="Helvetica Neue"/>
                <a:ea typeface="Helvetica Neue"/>
                <a:cs typeface="Helvetica Neue"/>
              </a:rPr>
              <a:t>Class 6</a:t>
            </a:r>
          </a:p>
        </p:txBody>
      </p:sp>
      <p:sp>
        <p:nvSpPr>
          <p:cNvPr id="15" name="">
            <a:extLst xmlns:a="http://schemas.openxmlformats.org/drawingml/2006/main">
              <a:ext uri="{FF2B5EF4-FFF2-40B4-BE49-F238E27FC236}">
                <a16:creationId xmlns:a16="http://schemas.microsoft.com/office/drawing/2014/main" id="{F90307FA-6EB7-4DAB-9244-B4EC83570773}"/>
              </a:ext>
            </a:extLst>
          </p:cNvPr>
          <p:cNvSpPr>
            <a:spLocks xmlns:a="http://schemas.openxmlformats.org/drawingml/2006/main" noGrp="1"/>
          </p:cNvSpPr>
          <p:nvPr/>
        </p:nvSpPr>
        <p:spPr>
          <a:xfrm xmlns:a="http://schemas.openxmlformats.org/drawingml/2006/main">
            <a:off x="3238500" y="5343525"/>
            <a:ext cx="8191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62D"/>
                </a:solidFill>
                <a:latin typeface="Helvetica Neue"/>
                <a:ea typeface="Helvetica Neue"/>
                <a:cs typeface="Helvetica Neue"/>
              </a:defRPr>
            </a:pPr>
            <a:r>
              <a:rPr sz="2100" b="0">
                <a:solidFill>
                  <a:srgbClr val="20262D"/>
                </a:solidFill>
                <a:latin typeface="Helvetica Neue"/>
                <a:ea typeface="Helvetica Neue"/>
                <a:cs typeface="Helvetica Neue"/>
              </a:rPr>
              <a:t>Deliver the product and reflect on what improved.</a:t>
            </a:r>
          </a:p>
        </p:txBody>
      </p:sp>
    </p:spTree>
    <p:extLst>
      <p:ext uri="{BB962C8B-B14F-4D97-AF65-F5344CB8AC3E}">
        <p14:creationId xmlns:p14="http://schemas.microsoft.com/office/powerpoint/2010/main" val="1954975494"/>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95573C-E9E5-47A4-9321-856DA3BBF0CB}"/>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EXAMPLES  /  WEB AND MOBILE</a:t>
            </a:r>
          </a:p>
        </p:txBody>
      </p:sp>
      <p:sp>
        <p:nvSpPr>
          <p:cNvPr id="2" name="">
            <a:extLst xmlns:a="http://schemas.openxmlformats.org/drawingml/2006/main">
              <a:ext uri="{FF2B5EF4-FFF2-40B4-BE49-F238E27FC236}">
                <a16:creationId xmlns:a16="http://schemas.microsoft.com/office/drawing/2014/main" id="{5683EE39-D0AE-4A50-8860-C55866EAC431}"/>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Different projects can meet the same standard</a:t>
            </a:r>
          </a:p>
        </p:txBody>
      </p:sp>
      <p:sp>
        <p:nvSpPr>
          <p:cNvPr id="3" name="">
            <a:extLst xmlns:a="http://schemas.openxmlformats.org/drawingml/2006/main">
              <a:ext uri="{FF2B5EF4-FFF2-40B4-BE49-F238E27FC236}">
                <a16:creationId xmlns:a16="http://schemas.microsoft.com/office/drawing/2014/main" id="{A8438F67-755D-4088-8F4E-D3B06066BDD2}"/>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2D724EB4-E52B-4004-83FD-88CA93D14070}"/>
              </a:ext>
            </a:extLst>
          </p:cNvPr>
          <p:cNvSpPr>
            <a:spLocks xmlns:a="http://schemas.openxmlformats.org/drawingml/2006/main" noGrp="1"/>
          </p:cNvSpPr>
          <p:nvPr/>
        </p:nvSpPr>
        <p:spPr>
          <a:xfrm xmlns:a="http://schemas.openxmlformats.org/drawingml/2006/main">
            <a:off x="609600" y="2095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23939"/>
                </a:solidFill>
                <a:latin typeface="Helvetica Neue"/>
                <a:ea typeface="Helvetica Neue"/>
                <a:cs typeface="Helvetica Neue"/>
              </a:defRPr>
            </a:pPr>
            <a:r>
              <a:rPr sz="2550" b="1">
                <a:solidFill>
                  <a:srgbClr val="D23939"/>
                </a:solidFill>
                <a:latin typeface="Helvetica Neue"/>
                <a:ea typeface="Helvetica Neue"/>
                <a:cs typeface="Helvetica Neue"/>
              </a:rPr>
              <a:t>A web booking app</a:t>
            </a:r>
          </a:p>
        </p:txBody>
      </p:sp>
      <p:sp>
        <p:nvSpPr>
          <p:cNvPr id="5" name="">
            <a:extLst xmlns:a="http://schemas.openxmlformats.org/drawingml/2006/main">
              <a:ext uri="{FF2B5EF4-FFF2-40B4-BE49-F238E27FC236}">
                <a16:creationId xmlns:a16="http://schemas.microsoft.com/office/drawing/2014/main" id="{4537D7C7-4045-42C2-A2E3-14D23A863B01}"/>
              </a:ext>
            </a:extLst>
          </p:cNvPr>
          <p:cNvSpPr>
            <a:spLocks xmlns:a="http://schemas.openxmlformats.org/drawingml/2006/main" noGrp="1"/>
          </p:cNvSpPr>
          <p:nvPr/>
        </p:nvSpPr>
        <p:spPr>
          <a:xfrm xmlns:a="http://schemas.openxmlformats.org/drawingml/2006/main">
            <a:off x="609600" y="2905125"/>
            <a:ext cx="5238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118   Create and reopen a booking.</a:t>
            </a:r>
          </a:p>
          <a:p xmlns:a="http://schemas.openxmlformats.org/drawingml/2006/main">
            <a:r>
              <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119   Complete booking management,</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          with access rules and error handling.</a:t>
            </a:r>
          </a:p>
          <a:p xmlns:a="http://schemas.openxmlformats.org/drawingml/2006/main">
            <a:r>
              <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120   Deliver a tested web release</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          with clear access instructions.</a:t>
            </a:r>
          </a:p>
        </p:txBody>
      </p:sp>
      <p:sp>
        <p:nvSpPr>
          <p:cNvPr id="6" name="">
            <a:extLst xmlns:a="http://schemas.openxmlformats.org/drawingml/2006/main">
              <a:ext uri="{FF2B5EF4-FFF2-40B4-BE49-F238E27FC236}">
                <a16:creationId xmlns:a16="http://schemas.microsoft.com/office/drawing/2014/main" id="{102E5303-3A0D-41AE-ACB5-6C132F50856B}"/>
              </a:ext>
            </a:extLst>
          </p:cNvPr>
          <p:cNvSpPr>
            <a:spLocks xmlns:a="http://schemas.openxmlformats.org/drawingml/2006/main" noGrp="1"/>
          </p:cNvSpPr>
          <p:nvPr/>
        </p:nvSpPr>
        <p:spPr>
          <a:xfrm xmlns:a="http://schemas.openxmlformats.org/drawingml/2006/main">
            <a:off x="6419850" y="2095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D23939"/>
                </a:solidFill>
                <a:latin typeface="Helvetica Neue"/>
                <a:ea typeface="Helvetica Neue"/>
                <a:cs typeface="Helvetica Neue"/>
              </a:defRPr>
            </a:pPr>
            <a:r>
              <a:rPr sz="2550" b="1">
                <a:solidFill>
                  <a:srgbClr val="D23939"/>
                </a:solidFill>
                <a:latin typeface="Helvetica Neue"/>
                <a:ea typeface="Helvetica Neue"/>
                <a:cs typeface="Helvetica Neue"/>
              </a:rPr>
              <a:t>A mobile habit tracker</a:t>
            </a:r>
          </a:p>
        </p:txBody>
      </p:sp>
      <p:sp>
        <p:nvSpPr>
          <p:cNvPr id="7" name="">
            <a:extLst xmlns:a="http://schemas.openxmlformats.org/drawingml/2006/main">
              <a:ext uri="{FF2B5EF4-FFF2-40B4-BE49-F238E27FC236}">
                <a16:creationId xmlns:a16="http://schemas.microsoft.com/office/drawing/2014/main" id="{00F32997-2623-4A13-B67D-5B4661402660}"/>
              </a:ext>
            </a:extLst>
          </p:cNvPr>
          <p:cNvSpPr>
            <a:spLocks xmlns:a="http://schemas.openxmlformats.org/drawingml/2006/main" noGrp="1"/>
          </p:cNvSpPr>
          <p:nvPr/>
        </p:nvSpPr>
        <p:spPr>
          <a:xfrm xmlns:a="http://schemas.openxmlformats.org/drawingml/2006/main">
            <a:off x="6419850" y="2905125"/>
            <a:ext cx="5238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118   Save a habit and retain it after restart.</a:t>
            </a:r>
          </a:p>
          <a:p xmlns:a="http://schemas.openxmlformats.org/drawingml/2006/main">
            <a:r>
              <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119   Complete tracking and history,</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          with useful empty and error states.</a:t>
            </a:r>
          </a:p>
          <a:p xmlns:a="http://schemas.openxmlformats.org/drawingml/2006/main">
            <a:r>
              <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120   Deliver a tested installable build</a:t>
            </a:r>
          </a:p>
          <a:p xmlns:a="http://schemas.openxmlformats.org/drawingml/2006/main">
            <a:pPr>
              <a:defRPr sz="2025" b="0">
                <a:solidFill>
                  <a:srgbClr val="20262D"/>
                </a:solidFill>
                <a:latin typeface="Helvetica Neue"/>
                <a:ea typeface="Helvetica Neue"/>
                <a:cs typeface="Helvetica Neue"/>
              </a:defRPr>
            </a:pPr>
            <a:r>
              <a:rPr sz="2025" b="0">
                <a:solidFill>
                  <a:srgbClr val="20262D"/>
                </a:solidFill>
                <a:latin typeface="Helvetica Neue"/>
                <a:ea typeface="Helvetica Neue"/>
                <a:cs typeface="Helvetica Neue"/>
              </a:rPr>
              <a:t>          with clear setup instructions.</a:t>
            </a:r>
          </a:p>
        </p:txBody>
      </p:sp>
    </p:spTree>
    <p:extLst>
      <p:ext uri="{BB962C8B-B14F-4D97-AF65-F5344CB8AC3E}">
        <p14:creationId xmlns:p14="http://schemas.microsoft.com/office/powerpoint/2010/main" val="869369278"/>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2D6802E-9D5C-4ECC-9B6B-767080824C30}"/>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COURSE-END DEMONSTRATIONS</a:t>
            </a:r>
          </a:p>
        </p:txBody>
      </p:sp>
      <p:sp>
        <p:nvSpPr>
          <p:cNvPr id="2" name="">
            <a:extLst xmlns:a="http://schemas.openxmlformats.org/drawingml/2006/main">
              <a:ext uri="{FF2B5EF4-FFF2-40B4-BE49-F238E27FC236}">
                <a16:creationId xmlns:a16="http://schemas.microsoft.com/office/drawing/2014/main" id="{5C41267A-0005-48C0-ABDA-EB0DA4CE6AC7}"/>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Evidence at each finish line</a:t>
            </a:r>
          </a:p>
        </p:txBody>
      </p:sp>
      <p:sp>
        <p:nvSpPr>
          <p:cNvPr id="3" name="">
            <a:extLst xmlns:a="http://schemas.openxmlformats.org/drawingml/2006/main">
              <a:ext uri="{FF2B5EF4-FFF2-40B4-BE49-F238E27FC236}">
                <a16:creationId xmlns:a16="http://schemas.microsoft.com/office/drawing/2014/main" id="{8C8CD818-DBA1-4789-816E-44FC4C489C64}"/>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505ED4DF-32B5-41B2-971F-B5D7D3990FFF}"/>
              </a:ext>
            </a:extLst>
          </p:cNvPr>
          <p:cNvSpPr>
            <a:spLocks xmlns:a="http://schemas.openxmlformats.org/drawingml/2006/main" noGrp="1"/>
          </p:cNvSpPr>
          <p:nvPr/>
        </p:nvSpPr>
        <p:spPr>
          <a:xfrm xmlns:a="http://schemas.openxmlformats.org/drawingml/2006/main">
            <a:off x="609600" y="203835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D23939"/>
                </a:solidFill>
                <a:latin typeface="Helvetica Neue"/>
                <a:ea typeface="Helvetica Neue"/>
                <a:cs typeface="Helvetica Neue"/>
              </a:defRPr>
            </a:pPr>
            <a:r>
              <a:rPr sz="4800" b="1">
                <a:solidFill>
                  <a:srgbClr val="D23939"/>
                </a:solidFill>
                <a:latin typeface="Helvetica Neue"/>
                <a:ea typeface="Helvetica Neue"/>
                <a:cs typeface="Helvetica Neue"/>
              </a:rPr>
              <a:t>118</a:t>
            </a:r>
          </a:p>
        </p:txBody>
      </p:sp>
      <p:sp>
        <p:nvSpPr>
          <p:cNvPr id="5" name="">
            <a:extLst xmlns:a="http://schemas.openxmlformats.org/drawingml/2006/main">
              <a:ext uri="{FF2B5EF4-FFF2-40B4-BE49-F238E27FC236}">
                <a16:creationId xmlns:a16="http://schemas.microsoft.com/office/drawing/2014/main" id="{4FECC718-49C0-4D1A-897E-2ED4D06A55B5}"/>
              </a:ext>
            </a:extLst>
          </p:cNvPr>
          <p:cNvSpPr>
            <a:spLocks xmlns:a="http://schemas.openxmlformats.org/drawingml/2006/main" noGrp="1"/>
          </p:cNvSpPr>
          <p:nvPr/>
        </p:nvSpPr>
        <p:spPr>
          <a:xfrm xmlns:a="http://schemas.openxmlformats.org/drawingml/2006/main">
            <a:off x="609600" y="31908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62D"/>
                </a:solidFill>
                <a:latin typeface="Helvetica Neue"/>
                <a:ea typeface="Helvetica Neue"/>
                <a:cs typeface="Helvetica Neue"/>
              </a:defRPr>
            </a:pPr>
            <a:r>
              <a:rPr sz="2325" b="1">
                <a:solidFill>
                  <a:srgbClr val="20262D"/>
                </a:solidFill>
                <a:latin typeface="Helvetica Neue"/>
                <a:ea typeface="Helvetica Neue"/>
                <a:cs typeface="Helvetica Neue"/>
              </a:rPr>
              <a:t>Show one action</a:t>
            </a:r>
          </a:p>
        </p:txBody>
      </p:sp>
      <p:sp>
        <p:nvSpPr>
          <p:cNvPr id="6" name="">
            <a:extLst xmlns:a="http://schemas.openxmlformats.org/drawingml/2006/main">
              <a:ext uri="{FF2B5EF4-FFF2-40B4-BE49-F238E27FC236}">
                <a16:creationId xmlns:a16="http://schemas.microsoft.com/office/drawing/2014/main" id="{2506B54E-0AF8-4ABD-AA30-B837EAAB337A}"/>
              </a:ext>
            </a:extLst>
          </p:cNvPr>
          <p:cNvSpPr>
            <a:spLocks xmlns:a="http://schemas.openxmlformats.org/drawingml/2006/main" noGrp="1"/>
          </p:cNvSpPr>
          <p:nvPr/>
        </p:nvSpPr>
        <p:spPr>
          <a:xfrm xmlns:a="http://schemas.openxmlformats.org/drawingml/2006/main">
            <a:off x="609600" y="4114800"/>
            <a:ext cx="3381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Run the workflow.</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Show the saved result.</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Explain the next scope decision.</a:t>
            </a:r>
          </a:p>
        </p:txBody>
      </p:sp>
      <p:sp>
        <p:nvSpPr>
          <p:cNvPr id="7" name="">
            <a:extLst xmlns:a="http://schemas.openxmlformats.org/drawingml/2006/main">
              <a:ext uri="{FF2B5EF4-FFF2-40B4-BE49-F238E27FC236}">
                <a16:creationId xmlns:a16="http://schemas.microsoft.com/office/drawing/2014/main" id="{FFAF6C6E-9C6D-43DF-90BE-FFDDA79EC582}"/>
              </a:ext>
            </a:extLst>
          </p:cNvPr>
          <p:cNvSpPr>
            <a:spLocks xmlns:a="http://schemas.openxmlformats.org/drawingml/2006/main" noGrp="1"/>
          </p:cNvSpPr>
          <p:nvPr/>
        </p:nvSpPr>
        <p:spPr>
          <a:xfrm xmlns:a="http://schemas.openxmlformats.org/drawingml/2006/main">
            <a:off x="4419600" y="203835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D23939"/>
                </a:solidFill>
                <a:latin typeface="Helvetica Neue"/>
                <a:ea typeface="Helvetica Neue"/>
                <a:cs typeface="Helvetica Neue"/>
              </a:defRPr>
            </a:pPr>
            <a:r>
              <a:rPr sz="4800" b="1">
                <a:solidFill>
                  <a:srgbClr val="D23939"/>
                </a:solidFill>
                <a:latin typeface="Helvetica Neue"/>
                <a:ea typeface="Helvetica Neue"/>
                <a:cs typeface="Helvetica Neue"/>
              </a:rPr>
              <a:t>119</a:t>
            </a:r>
          </a:p>
        </p:txBody>
      </p:sp>
      <p:sp>
        <p:nvSpPr>
          <p:cNvPr id="8" name="">
            <a:extLst xmlns:a="http://schemas.openxmlformats.org/drawingml/2006/main">
              <a:ext uri="{FF2B5EF4-FFF2-40B4-BE49-F238E27FC236}">
                <a16:creationId xmlns:a16="http://schemas.microsoft.com/office/drawing/2014/main" id="{7E309E70-1285-4887-91D6-87F158603A99}"/>
              </a:ext>
            </a:extLst>
          </p:cNvPr>
          <p:cNvSpPr>
            <a:spLocks xmlns:a="http://schemas.openxmlformats.org/drawingml/2006/main" noGrp="1"/>
          </p:cNvSpPr>
          <p:nvPr/>
        </p:nvSpPr>
        <p:spPr>
          <a:xfrm xmlns:a="http://schemas.openxmlformats.org/drawingml/2006/main">
            <a:off x="4419600" y="31908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62D"/>
                </a:solidFill>
                <a:latin typeface="Helvetica Neue"/>
                <a:ea typeface="Helvetica Neue"/>
                <a:cs typeface="Helvetica Neue"/>
              </a:defRPr>
            </a:pPr>
            <a:r>
              <a:rPr sz="2325" b="1">
                <a:solidFill>
                  <a:srgbClr val="20262D"/>
                </a:solidFill>
                <a:latin typeface="Helvetica Neue"/>
                <a:ea typeface="Helvetica Neue"/>
                <a:cs typeface="Helvetica Neue"/>
              </a:rPr>
              <a:t>Let someone use it</a:t>
            </a:r>
          </a:p>
        </p:txBody>
      </p:sp>
      <p:sp>
        <p:nvSpPr>
          <p:cNvPr id="9" name="">
            <a:extLst xmlns:a="http://schemas.openxmlformats.org/drawingml/2006/main">
              <a:ext uri="{FF2B5EF4-FFF2-40B4-BE49-F238E27FC236}">
                <a16:creationId xmlns:a16="http://schemas.microsoft.com/office/drawing/2014/main" id="{39FCB421-3FF9-45D5-8DCE-760BE095986B}"/>
              </a:ext>
            </a:extLst>
          </p:cNvPr>
          <p:cNvSpPr>
            <a:spLocks xmlns:a="http://schemas.openxmlformats.org/drawingml/2006/main" noGrp="1"/>
          </p:cNvSpPr>
          <p:nvPr/>
        </p:nvSpPr>
        <p:spPr>
          <a:xfrm xmlns:a="http://schemas.openxmlformats.org/drawingml/2006/main">
            <a:off x="4419600" y="4114800"/>
            <a:ext cx="3381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Observe the complete journey.</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Show a failure case and a test.</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Explain a feedback-driven change.</a:t>
            </a:r>
          </a:p>
        </p:txBody>
      </p:sp>
      <p:sp>
        <p:nvSpPr>
          <p:cNvPr id="10" name="">
            <a:extLst xmlns:a="http://schemas.openxmlformats.org/drawingml/2006/main">
              <a:ext uri="{FF2B5EF4-FFF2-40B4-BE49-F238E27FC236}">
                <a16:creationId xmlns:a16="http://schemas.microsoft.com/office/drawing/2014/main" id="{C41CB775-30AC-4B69-9EEA-C1B31AC36837}"/>
              </a:ext>
            </a:extLst>
          </p:cNvPr>
          <p:cNvSpPr>
            <a:spLocks xmlns:a="http://schemas.openxmlformats.org/drawingml/2006/main" noGrp="1"/>
          </p:cNvSpPr>
          <p:nvPr/>
        </p:nvSpPr>
        <p:spPr>
          <a:xfrm xmlns:a="http://schemas.openxmlformats.org/drawingml/2006/main">
            <a:off x="8229600" y="2038350"/>
            <a:ext cx="333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D23939"/>
                </a:solidFill>
                <a:latin typeface="Helvetica Neue"/>
                <a:ea typeface="Helvetica Neue"/>
                <a:cs typeface="Helvetica Neue"/>
              </a:defRPr>
            </a:pPr>
            <a:r>
              <a:rPr sz="4800" b="1">
                <a:solidFill>
                  <a:srgbClr val="D23939"/>
                </a:solidFill>
                <a:latin typeface="Helvetica Neue"/>
                <a:ea typeface="Helvetica Neue"/>
                <a:cs typeface="Helvetica Neue"/>
              </a:rPr>
              <a:t>120</a:t>
            </a:r>
          </a:p>
        </p:txBody>
      </p:sp>
      <p:sp>
        <p:nvSpPr>
          <p:cNvPr id="11" name="">
            <a:extLst xmlns:a="http://schemas.openxmlformats.org/drawingml/2006/main">
              <a:ext uri="{FF2B5EF4-FFF2-40B4-BE49-F238E27FC236}">
                <a16:creationId xmlns:a16="http://schemas.microsoft.com/office/drawing/2014/main" id="{3D8EDA78-5820-4DA2-91A9-6C6031E6812E}"/>
              </a:ext>
            </a:extLst>
          </p:cNvPr>
          <p:cNvSpPr>
            <a:spLocks xmlns:a="http://schemas.openxmlformats.org/drawingml/2006/main" noGrp="1"/>
          </p:cNvSpPr>
          <p:nvPr/>
        </p:nvSpPr>
        <p:spPr>
          <a:xfrm xmlns:a="http://schemas.openxmlformats.org/drawingml/2006/main">
            <a:off x="8229600" y="3190875"/>
            <a:ext cx="342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0262D"/>
                </a:solidFill>
                <a:latin typeface="Helvetica Neue"/>
                <a:ea typeface="Helvetica Neue"/>
                <a:cs typeface="Helvetica Neue"/>
              </a:defRPr>
            </a:pPr>
            <a:r>
              <a:rPr sz="2325" b="1">
                <a:solidFill>
                  <a:srgbClr val="20262D"/>
                </a:solidFill>
                <a:latin typeface="Helvetica Neue"/>
                <a:ea typeface="Helvetica Neue"/>
                <a:cs typeface="Helvetica Neue"/>
              </a:rPr>
              <a:t>Deliver the product</a:t>
            </a:r>
          </a:p>
        </p:txBody>
      </p:sp>
      <p:sp>
        <p:nvSpPr>
          <p:cNvPr id="12" name="">
            <a:extLst xmlns:a="http://schemas.openxmlformats.org/drawingml/2006/main">
              <a:ext uri="{FF2B5EF4-FFF2-40B4-BE49-F238E27FC236}">
                <a16:creationId xmlns:a16="http://schemas.microsoft.com/office/drawing/2014/main" id="{574731E8-2A43-4878-B9F5-B95396A434A5}"/>
              </a:ext>
            </a:extLst>
          </p:cNvPr>
          <p:cNvSpPr>
            <a:spLocks xmlns:a="http://schemas.openxmlformats.org/drawingml/2006/main" noGrp="1"/>
          </p:cNvSpPr>
          <p:nvPr/>
        </p:nvSpPr>
        <p:spPr>
          <a:xfrm xmlns:a="http://schemas.openxmlformats.org/drawingml/2006/main">
            <a:off x="8229600" y="4114800"/>
            <a:ext cx="3381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Share a working release.</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Show repeatable checks.</a:t>
            </a:r>
          </a:p>
          <a:p xmlns:a="http://schemas.openxmlformats.org/drawingml/2006/main">
            <a:pPr>
              <a:defRPr sz="1875" b="0">
                <a:solidFill>
                  <a:srgbClr val="5D6670"/>
                </a:solidFill>
                <a:latin typeface="Helvetica Neue"/>
                <a:ea typeface="Helvetica Neue"/>
                <a:cs typeface="Helvetica Neue"/>
              </a:defRPr>
            </a:pPr>
            <a:r>
              <a:rPr sz="1875" b="0">
                <a:solidFill>
                  <a:srgbClr val="5D6670"/>
                </a:solidFill>
                <a:latin typeface="Helvetica Neue"/>
                <a:ea typeface="Helvetica Neue"/>
                <a:cs typeface="Helvetica Neue"/>
              </a:rPr>
              <a:t>Explain decisions and limitations.</a:t>
            </a:r>
          </a:p>
        </p:txBody>
      </p:sp>
    </p:spTree>
    <p:extLst>
      <p:ext uri="{BB962C8B-B14F-4D97-AF65-F5344CB8AC3E}">
        <p14:creationId xmlns:p14="http://schemas.microsoft.com/office/powerpoint/2010/main" val="2107470708"/>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B948437-4D40-4E44-99B9-799A3A49A8E3}"/>
              </a:ext>
            </a:extLst>
          </p:cNvPr>
          <p:cNvSpPr>
            <a:spLocks xmlns:a="http://schemas.openxmlformats.org/drawingml/2006/main" noGrp="1"/>
          </p:cNvSpPr>
          <p:nvPr/>
        </p:nvSpPr>
        <p:spPr>
          <a:xfrm xmlns:a="http://schemas.openxmlformats.org/drawingml/2006/main">
            <a:off x="609600" y="3048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23939"/>
                </a:solidFill>
                <a:latin typeface="Helvetica Neue"/>
                <a:ea typeface="Helvetica Neue"/>
                <a:cs typeface="Helvetica Neue"/>
              </a:defRPr>
            </a:pPr>
            <a:r>
              <a:rPr sz="1350" b="1">
                <a:solidFill>
                  <a:srgbClr val="D23939"/>
                </a:solidFill>
                <a:latin typeface="Helvetica Neue"/>
                <a:ea typeface="Helvetica Neue"/>
                <a:cs typeface="Helvetica Neue"/>
              </a:rPr>
              <a:t>PLANNING ACTIVITY</a:t>
            </a:r>
          </a:p>
        </p:txBody>
      </p:sp>
      <p:sp>
        <p:nvSpPr>
          <p:cNvPr id="2" name="">
            <a:extLst xmlns:a="http://schemas.openxmlformats.org/drawingml/2006/main">
              <a:ext uri="{FF2B5EF4-FFF2-40B4-BE49-F238E27FC236}">
                <a16:creationId xmlns:a16="http://schemas.microsoft.com/office/drawing/2014/main" id="{5408D314-4A24-4210-914D-76DBD82C5AC2}"/>
              </a:ext>
            </a:extLst>
          </p:cNvPr>
          <p:cNvSpPr>
            <a:spLocks xmlns:a="http://schemas.openxmlformats.org/drawingml/2006/main" noGrp="1"/>
          </p:cNvSpPr>
          <p:nvPr/>
        </p:nvSpPr>
        <p:spPr>
          <a:xfrm xmlns:a="http://schemas.openxmlformats.org/drawingml/2006/main">
            <a:off x="609600" y="7810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62D"/>
                </a:solidFill>
                <a:latin typeface="Helvetica Neue"/>
                <a:ea typeface="Helvetica Neue"/>
                <a:cs typeface="Helvetica Neue"/>
              </a:defRPr>
            </a:pPr>
            <a:r>
              <a:rPr sz="3300" b="1">
                <a:solidFill>
                  <a:srgbClr val="20262D"/>
                </a:solidFill>
                <a:latin typeface="Helvetica Neue"/>
                <a:ea typeface="Helvetica Neue"/>
                <a:cs typeface="Helvetica Neue"/>
              </a:rPr>
              <a:t>Your capstone finish lines</a:t>
            </a:r>
          </a:p>
        </p:txBody>
      </p:sp>
      <p:sp>
        <p:nvSpPr>
          <p:cNvPr id="3" name="">
            <a:extLst xmlns:a="http://schemas.openxmlformats.org/drawingml/2006/main">
              <a:ext uri="{FF2B5EF4-FFF2-40B4-BE49-F238E27FC236}">
                <a16:creationId xmlns:a16="http://schemas.microsoft.com/office/drawing/2014/main" id="{06D17E62-88D5-41A1-B344-7D76EE94A3D3}"/>
              </a:ext>
            </a:extLst>
          </p:cNvPr>
          <p:cNvSpPr>
            <a:spLocks xmlns:a="http://schemas.openxmlformats.org/drawingml/2006/main" noGrp="1"/>
          </p:cNvSpPr>
          <p:nvPr/>
        </p:nvSpPr>
        <p:spPr>
          <a:xfrm xmlns:a="http://schemas.openxmlformats.org/drawingml/2006/main">
            <a:off x="110490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D6670"/>
                </a:solidFill>
                <a:latin typeface="Helvetica Neue"/>
                <a:ea typeface="Helvetica Neue"/>
                <a:cs typeface="Helvetica Neue"/>
              </a:defRPr>
            </a:pPr>
            <a:r>
              <a:rPr sz="1350" b="0">
                <a:solidFill>
                  <a:srgbClr val="5D6670"/>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C3C45346-A388-41E4-ADD9-05B071696421}"/>
              </a:ext>
            </a:extLst>
          </p:cNvPr>
          <p:cNvSpPr>
            <a:spLocks xmlns:a="http://schemas.openxmlformats.org/drawingml/2006/main" noGrp="1"/>
          </p:cNvSpPr>
          <p:nvPr/>
        </p:nvSpPr>
        <p:spPr>
          <a:xfrm xmlns:a="http://schemas.openxmlformats.org/drawingml/2006/main">
            <a:off x="609600" y="2190750"/>
            <a:ext cx="180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D23939"/>
                </a:solidFill>
                <a:latin typeface="Helvetica Neue"/>
                <a:ea typeface="Helvetica Neue"/>
                <a:cs typeface="Helvetica Neue"/>
              </a:defRPr>
            </a:pPr>
            <a:r>
              <a:rPr sz="4200" b="1">
                <a:solidFill>
                  <a:srgbClr val="D23939"/>
                </a:solidFill>
                <a:latin typeface="Helvetica Neue"/>
                <a:ea typeface="Helvetica Neue"/>
                <a:cs typeface="Helvetica Neue"/>
              </a:rPr>
              <a:t>118</a:t>
            </a:r>
          </a:p>
        </p:txBody>
      </p:sp>
      <p:sp>
        <p:nvSpPr>
          <p:cNvPr id="5" name="">
            <a:extLst xmlns:a="http://schemas.openxmlformats.org/drawingml/2006/main">
              <a:ext uri="{FF2B5EF4-FFF2-40B4-BE49-F238E27FC236}">
                <a16:creationId xmlns:a16="http://schemas.microsoft.com/office/drawing/2014/main" id="{9F49CF26-AD73-4423-B4A2-41F9A860107A}"/>
              </a:ext>
            </a:extLst>
          </p:cNvPr>
          <p:cNvSpPr>
            <a:spLocks xmlns:a="http://schemas.openxmlformats.org/drawingml/2006/main" noGrp="1"/>
          </p:cNvSpPr>
          <p:nvPr/>
        </p:nvSpPr>
        <p:spPr>
          <a:xfrm xmlns:a="http://schemas.openxmlformats.org/drawingml/2006/main">
            <a:off x="2714625" y="2295525"/>
            <a:ext cx="847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0262D"/>
                </a:solidFill>
                <a:latin typeface="Helvetica Neue"/>
                <a:ea typeface="Helvetica Neue"/>
                <a:cs typeface="Helvetica Neue"/>
              </a:defRPr>
            </a:pPr>
            <a:r>
              <a:rPr sz="2550" b="0">
                <a:solidFill>
                  <a:srgbClr val="20262D"/>
                </a:solidFill>
                <a:latin typeface="Helvetica Neue"/>
                <a:ea typeface="Helvetica Neue"/>
                <a:cs typeface="Helvetica Neue"/>
              </a:rPr>
              <a:t>By the end of 118, a user can…</a:t>
            </a:r>
          </a:p>
        </p:txBody>
      </p:sp>
      <p:sp>
        <p:nvSpPr>
          <p:cNvPr id="6" name="">
            <a:extLst xmlns:a="http://schemas.openxmlformats.org/drawingml/2006/main">
              <a:ext uri="{FF2B5EF4-FFF2-40B4-BE49-F238E27FC236}">
                <a16:creationId xmlns:a16="http://schemas.microsoft.com/office/drawing/2014/main" id="{5D6A55F0-7235-4F6D-8024-F873FBDC9E7D}"/>
              </a:ext>
            </a:extLst>
          </p:cNvPr>
          <p:cNvSpPr>
            <a:spLocks xmlns:a="http://schemas.openxmlformats.org/drawingml/2006/main" noGrp="1"/>
          </p:cNvSpPr>
          <p:nvPr/>
        </p:nvSpPr>
        <p:spPr>
          <a:xfrm xmlns:a="http://schemas.openxmlformats.org/drawingml/2006/main">
            <a:off x="609600" y="3381375"/>
            <a:ext cx="180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D23939"/>
                </a:solidFill>
                <a:latin typeface="Helvetica Neue"/>
                <a:ea typeface="Helvetica Neue"/>
                <a:cs typeface="Helvetica Neue"/>
              </a:defRPr>
            </a:pPr>
            <a:r>
              <a:rPr sz="4200" b="1">
                <a:solidFill>
                  <a:srgbClr val="D23939"/>
                </a:solidFill>
                <a:latin typeface="Helvetica Neue"/>
                <a:ea typeface="Helvetica Neue"/>
                <a:cs typeface="Helvetica Neue"/>
              </a:rPr>
              <a:t>119</a:t>
            </a:r>
          </a:p>
        </p:txBody>
      </p:sp>
      <p:sp>
        <p:nvSpPr>
          <p:cNvPr id="7" name="">
            <a:extLst xmlns:a="http://schemas.openxmlformats.org/drawingml/2006/main">
              <a:ext uri="{FF2B5EF4-FFF2-40B4-BE49-F238E27FC236}">
                <a16:creationId xmlns:a16="http://schemas.microsoft.com/office/drawing/2014/main" id="{C21710D2-C6B6-4355-9CE7-E55FFBCD73B5}"/>
              </a:ext>
            </a:extLst>
          </p:cNvPr>
          <p:cNvSpPr>
            <a:spLocks xmlns:a="http://schemas.openxmlformats.org/drawingml/2006/main" noGrp="1"/>
          </p:cNvSpPr>
          <p:nvPr/>
        </p:nvSpPr>
        <p:spPr>
          <a:xfrm xmlns:a="http://schemas.openxmlformats.org/drawingml/2006/main">
            <a:off x="2714625" y="3486150"/>
            <a:ext cx="866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0262D"/>
                </a:solidFill>
                <a:latin typeface="Helvetica Neue"/>
                <a:ea typeface="Helvetica Neue"/>
                <a:cs typeface="Helvetica Neue"/>
              </a:defRPr>
            </a:pPr>
            <a:r>
              <a:rPr sz="2550" b="0">
                <a:solidFill>
                  <a:srgbClr val="20262D"/>
                </a:solidFill>
                <a:latin typeface="Helvetica Neue"/>
                <a:ea typeface="Helvetica Neue"/>
                <a:cs typeface="Helvetica Neue"/>
              </a:rPr>
              <a:t>By the end of 119, a new user can complete…</a:t>
            </a:r>
          </a:p>
        </p:txBody>
      </p:sp>
      <p:sp>
        <p:nvSpPr>
          <p:cNvPr id="8" name="">
            <a:extLst xmlns:a="http://schemas.openxmlformats.org/drawingml/2006/main">
              <a:ext uri="{FF2B5EF4-FFF2-40B4-BE49-F238E27FC236}">
                <a16:creationId xmlns:a16="http://schemas.microsoft.com/office/drawing/2014/main" id="{A560485D-D946-450D-B056-A5CFC13A9D00}"/>
              </a:ext>
            </a:extLst>
          </p:cNvPr>
          <p:cNvSpPr>
            <a:spLocks xmlns:a="http://schemas.openxmlformats.org/drawingml/2006/main" noGrp="1"/>
          </p:cNvSpPr>
          <p:nvPr/>
        </p:nvSpPr>
        <p:spPr>
          <a:xfrm xmlns:a="http://schemas.openxmlformats.org/drawingml/2006/main">
            <a:off x="609600" y="4572000"/>
            <a:ext cx="180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D23939"/>
                </a:solidFill>
                <a:latin typeface="Helvetica Neue"/>
                <a:ea typeface="Helvetica Neue"/>
                <a:cs typeface="Helvetica Neue"/>
              </a:defRPr>
            </a:pPr>
            <a:r>
              <a:rPr sz="4200" b="1">
                <a:solidFill>
                  <a:srgbClr val="D23939"/>
                </a:solidFill>
                <a:latin typeface="Helvetica Neue"/>
                <a:ea typeface="Helvetica Neue"/>
                <a:cs typeface="Helvetica Neue"/>
              </a:rPr>
              <a:t>120</a:t>
            </a:r>
          </a:p>
        </p:txBody>
      </p:sp>
      <p:sp>
        <p:nvSpPr>
          <p:cNvPr id="9" name="">
            <a:extLst xmlns:a="http://schemas.openxmlformats.org/drawingml/2006/main">
              <a:ext uri="{FF2B5EF4-FFF2-40B4-BE49-F238E27FC236}">
                <a16:creationId xmlns:a16="http://schemas.microsoft.com/office/drawing/2014/main" id="{2C7F514D-84C9-4ECD-81B7-2715FDF508AA}"/>
              </a:ext>
            </a:extLst>
          </p:cNvPr>
          <p:cNvSpPr>
            <a:spLocks xmlns:a="http://schemas.openxmlformats.org/drawingml/2006/main" noGrp="1"/>
          </p:cNvSpPr>
          <p:nvPr/>
        </p:nvSpPr>
        <p:spPr>
          <a:xfrm xmlns:a="http://schemas.openxmlformats.org/drawingml/2006/main">
            <a:off x="2714625" y="4676775"/>
            <a:ext cx="866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20262D"/>
                </a:solidFill>
                <a:latin typeface="Helvetica Neue"/>
                <a:ea typeface="Helvetica Neue"/>
                <a:cs typeface="Helvetica Neue"/>
              </a:defRPr>
            </a:pPr>
            <a:r>
              <a:rPr sz="2550" b="0">
                <a:solidFill>
                  <a:srgbClr val="20262D"/>
                </a:solidFill>
                <a:latin typeface="Helvetica Neue"/>
                <a:ea typeface="Helvetica Neue"/>
                <a:cs typeface="Helvetica Neue"/>
              </a:rPr>
              <a:t>By the end of 120, I can deliver and prove…</a:t>
            </a:r>
          </a:p>
        </p:txBody>
      </p:sp>
    </p:spTree>
    <p:extLst>
      <p:ext uri="{BB962C8B-B14F-4D97-AF65-F5344CB8AC3E}">
        <p14:creationId xmlns:p14="http://schemas.microsoft.com/office/powerpoint/2010/main" val="3599750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2026-09-05T21:34:51.9650000Z</dcterms:created>
  <dcterms:modified xsi:type="dcterms:W3CDTF">2026-09-05T21:34:51.9650000Z</dcterms:modified>
</coreProperties>
</file>