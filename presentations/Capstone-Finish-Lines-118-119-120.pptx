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a1bdb3e8e347e9" /><Relationship Type="http://schemas.openxmlformats.org/officeDocument/2006/relationships/extended-properties" Target="/docProps/app.xml" Id="Rf136e12cd4ab414a" /><Relationship Type="http://schemas.openxmlformats.org/officeDocument/2006/relationships/officeDocument" Target="/ppt/presentation.xml" Id="Rd0f92f06495e477e" /></Relationships>
</file>

<file path=ppt/presentation.xml><?xml version="1.0" encoding="utf-8"?>
<p:presentation xmlns:p="http://schemas.openxmlformats.org/presentationml/2006/main">
  <p:sldMasterIdLst>
    <p:sldMasterId xmlns:r="http://schemas.openxmlformats.org/officeDocument/2006/relationships" id="2147483648" r:id="Re36b511f9f9045e3"/>
  </p:sldMasterIdLst>
  <p:notesMasterIdLst>
    <p:notesMasterId xmlns:r="http://schemas.openxmlformats.org/officeDocument/2006/relationships" r:id="R08e125f31d6041ed"/>
  </p:notesMasterIdLst>
  <p:sldIdLst>
    <p:sldId xmlns:r="http://schemas.openxmlformats.org/officeDocument/2006/relationships" id="256" r:id="R240e0354f67b43f8"/>
    <p:sldId xmlns:r="http://schemas.openxmlformats.org/officeDocument/2006/relationships" id="257" r:id="R8eb4edd502c14401"/>
    <p:sldId xmlns:r="http://schemas.openxmlformats.org/officeDocument/2006/relationships" id="258" r:id="R8e88441bc4a14bb0"/>
    <p:sldId xmlns:r="http://schemas.openxmlformats.org/officeDocument/2006/relationships" id="259" r:id="Rf48e13b47f5a4d4e"/>
    <p:sldId xmlns:r="http://schemas.openxmlformats.org/officeDocument/2006/relationships" id="260" r:id="Rb45354528b554945"/>
    <p:sldId xmlns:r="http://schemas.openxmlformats.org/officeDocument/2006/relationships" id="261" r:id="R965328ecb6b24447"/>
    <p:sldId xmlns:r="http://schemas.openxmlformats.org/officeDocument/2006/relationships" id="262" r:id="R0f94b876d6e8435d"/>
    <p:sldId xmlns:r="http://schemas.openxmlformats.org/officeDocument/2006/relationships" id="263" r:id="R685e75643c68448d"/>
    <p:sldId xmlns:r="http://schemas.openxmlformats.org/officeDocument/2006/relationships" id="264" r:id="Rf60c4dcdb50640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333cf1c54f430c" /><Relationship Type="http://schemas.openxmlformats.org/officeDocument/2006/relationships/slideMaster" Target="/ppt/slideMasters/slideMaster1.xml" Id="Re36b511f9f9045e3" /><Relationship Type="http://schemas.openxmlformats.org/officeDocument/2006/relationships/notesMaster" Target="/ppt/notesMasters/notesMaster1.xml" Id="R08e125f31d6041ed" /><Relationship Type="http://schemas.openxmlformats.org/officeDocument/2006/relationships/presProps" Target="/ppt/presProps.xml" Id="Ra117ca9a498d48d5" /><Relationship Type="http://schemas.openxmlformats.org/officeDocument/2006/relationships/tableStyles" Target="/ppt/tableStyles.xml" Id="Re780569785544af3" /><Relationship Type="http://schemas.openxmlformats.org/officeDocument/2006/relationships/slide" Target="/ppt/slides/slide1.xml" Id="R240e0354f67b43f8" /><Relationship Type="http://schemas.openxmlformats.org/officeDocument/2006/relationships/slide" Target="/ppt/slides/slide2.xml" Id="R8eb4edd502c14401" /><Relationship Type="http://schemas.openxmlformats.org/officeDocument/2006/relationships/slide" Target="/ppt/slides/slide3.xml" Id="R8e88441bc4a14bb0" /><Relationship Type="http://schemas.openxmlformats.org/officeDocument/2006/relationships/slide" Target="/ppt/slides/slide4.xml" Id="Rf48e13b47f5a4d4e" /><Relationship Type="http://schemas.openxmlformats.org/officeDocument/2006/relationships/slide" Target="/ppt/slides/slide5.xml" Id="Rb45354528b554945" /><Relationship Type="http://schemas.openxmlformats.org/officeDocument/2006/relationships/slide" Target="/ppt/slides/slide6.xml" Id="R965328ecb6b24447" /><Relationship Type="http://schemas.openxmlformats.org/officeDocument/2006/relationships/slide" Target="/ppt/slides/slide7.xml" Id="R0f94b876d6e8435d" /><Relationship Type="http://schemas.openxmlformats.org/officeDocument/2006/relationships/slide" Target="/ppt/slides/slide8.xml" Id="R685e75643c68448d" /><Relationship Type="http://schemas.openxmlformats.org/officeDocument/2006/relationships/slide" Target="/ppt/slides/slide9.xml" Id="Rf60c4dcdb50640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387b5b22544a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4915e85d8a4c3b" /><Relationship Type="http://schemas.openxmlformats.org/officeDocument/2006/relationships/notesMaster" Target="/ppt/notesMasters/notesMaster1.xml" Id="Raddea96ed76141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2ba12f84c14ccb" /><Relationship Type="http://schemas.openxmlformats.org/officeDocument/2006/relationships/notesMaster" Target="/ppt/notesMasters/notesMaster1.xml" Id="R8364f193463f48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18bae74537456c" /><Relationship Type="http://schemas.openxmlformats.org/officeDocument/2006/relationships/notesMaster" Target="/ppt/notesMasters/notesMaster1.xml" Id="Rc6cd211dd3f147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aab66d89294ceb" /><Relationship Type="http://schemas.openxmlformats.org/officeDocument/2006/relationships/notesMaster" Target="/ppt/notesMasters/notesMaster1.xml" Id="R4ee2869b46f041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2de182bbb84f92" /><Relationship Type="http://schemas.openxmlformats.org/officeDocument/2006/relationships/notesMaster" Target="/ppt/notesMasters/notesMaster1.xml" Id="Ra848cfb1403b43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58bf70b857484c" /><Relationship Type="http://schemas.openxmlformats.org/officeDocument/2006/relationships/notesMaster" Target="/ppt/notesMasters/notesMaster1.xml" Id="Re66c9304799444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1e304eac8b48d8" /><Relationship Type="http://schemas.openxmlformats.org/officeDocument/2006/relationships/notesMaster" Target="/ppt/notesMasters/notesMaster1.xml" Id="R8b99ff198e1b4e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50af151e794a1a" /><Relationship Type="http://schemas.openxmlformats.org/officeDocument/2006/relationships/notesMaster" Target="/ppt/notesMasters/notesMaster1.xml" Id="Rac5fe7d1701f4a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949839d95e48cf" /><Relationship Type="http://schemas.openxmlformats.org/officeDocument/2006/relationships/notesMaster" Target="/ppt/notesMasters/notesMaster1.xml" Id="R57b7de5c02104b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the proposed capstone roadmap. Students retain their choice of product and implementation. The shared expectations concern demonstrable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capstone continues through all three courses. MVP means minimum viable product: the smallest complete version that delivers the intended user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run the app, perform the core action, and show the stored result. Planning and wireframes support the build, but working software is the course finish line. Example: create a booking and reopen it. Authentication is required when the product or program learning outcomes require it. Illustration: shared/images/118-story-to-page.png, generated for this curriculum.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end-of-class targets, adjustable to session length and student preparation. Data storage decisions happen early. An app without accounts should still explain its access model. Check deployment or device installation feasibility 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means minimum viable product. Evidence: ask a peer to perform the main journey without coaching. Show normal behavior, an invalid action, and persistence after refresh or restart. Finish with a known-issues list and freeze the essential feature scope. Illustration: shared/images/119-refresh-test.png.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 delivery can be a deployed site. Mobile delivery can be an installable build or an approved testing distribution; public app-store publication is not automatically required. Supply access/setup instructions and known limitations. The final demo explains the user problem, workflow, technical decisions and evidence. Illustration: shared/images/120-demo-evidence.png.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examples, not required project types. Students may choose different stacks and storage solutions. Authentication is conditional on product needs and course requirements. Evaluate the same outcomes while allowing appropriate technical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working demonstrations for behavior. Screenshots alone do not establish persistence or correctness. These are completion standards, not a proposed grading scheme. If students work in teams, each student should explain a meaningful contribution and the associated technical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five minutes to complete these statements with observable behaviors. Then ask a partner to identify the evidence needed for each. Keep the initial scope small enough to finish. Revisit these statements at each course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06853175f242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4cfc6508794494" /><Relationship Type="http://schemas.openxmlformats.org/officeDocument/2006/relationships/slideLayout" Target="/ppt/slideLayouts/slideLayout1.xml" Id="R648a5dcc1af74d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8a5dcc1af74d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0cac50cbe24317" /><Relationship Type="http://schemas.openxmlformats.org/officeDocument/2006/relationships/notesSlide" Target="/ppt/notesSlides/notesSlide1.xml" Id="R2a1a7a63ccbe4d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fd6ceed62b4daf" /><Relationship Type="http://schemas.openxmlformats.org/officeDocument/2006/relationships/notesSlide" Target="/ppt/notesSlides/notesSlide2.xml" Id="Rdabb480ec60d47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e802a43aab48a8" /><Relationship Type="http://schemas.openxmlformats.org/officeDocument/2006/relationships/image" Target="/ppt/media/image.png" Id="R7ae7d24704234f98" /><Relationship Type="http://schemas.openxmlformats.org/officeDocument/2006/relationships/notesSlide" Target="/ppt/notesSlides/notesSlide3.xml" Id="R091653e54cf248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9109fb9a6b493b" /><Relationship Type="http://schemas.openxmlformats.org/officeDocument/2006/relationships/notesSlide" Target="/ppt/notesSlides/notesSlide4.xml" Id="R86ea5579a4d44e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3bbb9bdf2546a0" /><Relationship Type="http://schemas.openxmlformats.org/officeDocument/2006/relationships/image" Target="/ppt/media/image2.png" Id="R54df7cf7655d42e1" /><Relationship Type="http://schemas.openxmlformats.org/officeDocument/2006/relationships/notesSlide" Target="/ppt/notesSlides/notesSlide5.xml" Id="Rd35b81077f1b4c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28374a36a14f88" /><Relationship Type="http://schemas.openxmlformats.org/officeDocument/2006/relationships/image" Target="/ppt/media/image3.png" Id="Rdb3dcc82858d45cb" /><Relationship Type="http://schemas.openxmlformats.org/officeDocument/2006/relationships/notesSlide" Target="/ppt/notesSlides/notesSlide6.xml" Id="R9ff7c1b1725c4c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e120f1b81b4240" /><Relationship Type="http://schemas.openxmlformats.org/officeDocument/2006/relationships/notesSlide" Target="/ppt/notesSlides/notesSlide7.xml" Id="R851f1ba4b76847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341ee03e734e19" /><Relationship Type="http://schemas.openxmlformats.org/officeDocument/2006/relationships/notesSlide" Target="/ppt/notesSlides/notesSlide8.xml" Id="Rd2fd602377d84f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52ef7459b04b67" /><Relationship Type="http://schemas.openxmlformats.org/officeDocument/2006/relationships/notesSlide" Target="/ppt/notesSlides/notesSlide9.xml" Id="R1726b1b842484e3a" /></Relationships>
</file>

<file path=ppt/slides/slide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28EF19-3E61-4441-BCA1-28B914FA8C30}"/>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SDGKU  /  FULL-STACK &amp; MOBILE</a:t>
            </a:r>
          </a:p>
        </p:txBody>
      </p:sp>
      <p:sp>
        <p:nvSpPr>
          <p:cNvPr id="2" name="">
            <a:extLst xmlns:a="http://schemas.openxmlformats.org/drawingml/2006/main">
              <a:ext uri="{FF2B5EF4-FFF2-40B4-BE49-F238E27FC236}">
                <a16:creationId xmlns:a16="http://schemas.microsoft.com/office/drawing/2014/main" id="{6DD67683-D891-4E3C-A498-DA3C8FA4E936}"/>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Capstone finish lines</a:t>
            </a:r>
          </a:p>
        </p:txBody>
      </p:sp>
      <p:sp>
        <p:nvSpPr>
          <p:cNvPr id="3" name="">
            <a:extLst xmlns:a="http://schemas.openxmlformats.org/drawingml/2006/main">
              <a:ext uri="{FF2B5EF4-FFF2-40B4-BE49-F238E27FC236}">
                <a16:creationId xmlns:a16="http://schemas.microsoft.com/office/drawing/2014/main" id="{F985E51F-073E-4FDA-B6F0-B04F09A65D4D}"/>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E2D273A1-7F38-4914-B08C-5AF02EA934CB}"/>
              </a:ext>
            </a:extLst>
          </p:cNvPr>
          <p:cNvSpPr>
            <a:spLocks xmlns:a="http://schemas.openxmlformats.org/drawingml/2006/main" noGrp="1"/>
          </p:cNvSpPr>
          <p:nvPr/>
        </p:nvSpPr>
        <p:spPr>
          <a:xfrm xmlns:a="http://schemas.openxmlformats.org/drawingml/2006/main">
            <a:off x="609600" y="2238375"/>
            <a:ext cx="8096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0262D"/>
                </a:solidFill>
                <a:latin typeface="Helvetica Neue"/>
                <a:ea typeface="Helvetica Neue"/>
                <a:cs typeface="Helvetica Neue"/>
              </a:defRPr>
            </a:pPr>
            <a:r>
              <a:rPr sz="4800" b="1">
                <a:solidFill>
                  <a:srgbClr val="20262D"/>
                </a:solidFill>
                <a:latin typeface="Helvetica Neue"/>
                <a:ea typeface="Helvetica Neue"/>
                <a:cs typeface="Helvetica Neue"/>
              </a:rPr>
              <a:t>One project across</a:t>
            </a:r>
          </a:p>
          <a:p xmlns:a="http://schemas.openxmlformats.org/drawingml/2006/main">
            <a:pPr>
              <a:defRPr sz="4800" b="1">
                <a:solidFill>
                  <a:srgbClr val="20262D"/>
                </a:solidFill>
                <a:latin typeface="Helvetica Neue"/>
                <a:ea typeface="Helvetica Neue"/>
                <a:cs typeface="Helvetica Neue"/>
              </a:defRPr>
            </a:pPr>
            <a:r>
              <a:rPr sz="4800" b="1">
                <a:solidFill>
                  <a:srgbClr val="20262D"/>
                </a:solidFill>
                <a:latin typeface="Helvetica Neue"/>
                <a:ea typeface="Helvetica Neue"/>
                <a:cs typeface="Helvetica Neue"/>
              </a:rPr>
              <a:t>three courses</a:t>
            </a:r>
          </a:p>
        </p:txBody>
      </p:sp>
      <p:sp>
        <p:nvSpPr>
          <p:cNvPr id="5" name="">
            <a:extLst xmlns:a="http://schemas.openxmlformats.org/drawingml/2006/main">
              <a:ext uri="{FF2B5EF4-FFF2-40B4-BE49-F238E27FC236}">
                <a16:creationId xmlns:a16="http://schemas.microsoft.com/office/drawing/2014/main" id="{E5DDFDF6-8351-4169-BBC4-400F4F932536}"/>
              </a:ext>
            </a:extLst>
          </p:cNvPr>
          <p:cNvSpPr>
            <a:spLocks xmlns:a="http://schemas.openxmlformats.org/drawingml/2006/main" noGrp="1"/>
          </p:cNvSpPr>
          <p:nvPr/>
        </p:nvSpPr>
        <p:spPr>
          <a:xfrm xmlns:a="http://schemas.openxmlformats.org/drawingml/2006/main">
            <a:off x="647700" y="4448175"/>
            <a:ext cx="904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D6670"/>
                </a:solidFill>
                <a:latin typeface="Helvetica Neue"/>
                <a:ea typeface="Helvetica Neue"/>
                <a:cs typeface="Helvetica Neue"/>
              </a:defRPr>
            </a:pPr>
            <a:r>
              <a:rPr sz="2100" b="0">
                <a:solidFill>
                  <a:srgbClr val="5D6670"/>
                </a:solidFill>
                <a:latin typeface="Helvetica Neue"/>
                <a:ea typeface="Helvetica Neue"/>
                <a:cs typeface="Helvetica Neue"/>
              </a:rPr>
              <a:t>118, 119 and 120</a:t>
            </a:r>
          </a:p>
          <a:p xmlns:a="http://schemas.openxmlformats.org/drawingml/2006/main">
            <a:pPr>
              <a:defRPr sz="2100" b="0">
                <a:solidFill>
                  <a:srgbClr val="5D6670"/>
                </a:solidFill>
                <a:latin typeface="Helvetica Neue"/>
                <a:ea typeface="Helvetica Neue"/>
                <a:cs typeface="Helvetica Neue"/>
              </a:defRPr>
            </a:pPr>
            <a:r>
              <a:rPr sz="2100" b="0">
                <a:solidFill>
                  <a:srgbClr val="5D6670"/>
                </a:solidFill>
                <a:latin typeface="Helvetica Neue"/>
                <a:ea typeface="Helvetica Neue"/>
                <a:cs typeface="Helvetica Neue"/>
              </a:rPr>
              <a:t>Six classes per course. Eighteen classes in total.</a:t>
            </a:r>
          </a:p>
        </p:txBody>
      </p:sp>
    </p:spTree>
    <p:extLst>
      <p:ext uri="{BB962C8B-B14F-4D97-AF65-F5344CB8AC3E}">
        <p14:creationId xmlns:p14="http://schemas.microsoft.com/office/powerpoint/2010/main" val="1731639735"/>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94A5BA-5727-4D2E-A692-751F52BA7EF0}"/>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THE ROADMAP</a:t>
            </a:r>
          </a:p>
        </p:txBody>
      </p:sp>
      <p:sp>
        <p:nvSpPr>
          <p:cNvPr id="2" name="">
            <a:extLst xmlns:a="http://schemas.openxmlformats.org/drawingml/2006/main">
              <a:ext uri="{FF2B5EF4-FFF2-40B4-BE49-F238E27FC236}">
                <a16:creationId xmlns:a16="http://schemas.microsoft.com/office/drawing/2014/main" id="{9846220F-046A-43F6-BA8B-671490BB2B73}"/>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Three courses, one growing product</a:t>
            </a:r>
          </a:p>
        </p:txBody>
      </p:sp>
      <p:sp>
        <p:nvSpPr>
          <p:cNvPr id="3" name="">
            <a:extLst xmlns:a="http://schemas.openxmlformats.org/drawingml/2006/main">
              <a:ext uri="{FF2B5EF4-FFF2-40B4-BE49-F238E27FC236}">
                <a16:creationId xmlns:a16="http://schemas.microsoft.com/office/drawing/2014/main" id="{9E3BC0B4-3B84-48CC-A84B-3E9BBC1F0A6E}"/>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9687812C-EA7F-4B2E-A65C-94ECFF4AF6B5}"/>
              </a:ext>
            </a:extLst>
          </p:cNvPr>
          <p:cNvSpPr>
            <a:spLocks xmlns:a="http://schemas.openxmlformats.org/drawingml/2006/main" noGrp="1"/>
          </p:cNvSpPr>
          <p:nvPr/>
        </p:nvSpPr>
        <p:spPr>
          <a:xfrm xmlns:a="http://schemas.openxmlformats.org/drawingml/2006/main">
            <a:off x="609600" y="20955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D23939"/>
                </a:solidFill>
                <a:latin typeface="Helvetica Neue"/>
                <a:ea typeface="Helvetica Neue"/>
                <a:cs typeface="Helvetica Neue"/>
              </a:defRPr>
            </a:pPr>
            <a:r>
              <a:rPr sz="5400" b="1">
                <a:solidFill>
                  <a:srgbClr val="D23939"/>
                </a:solidFill>
                <a:latin typeface="Helvetica Neue"/>
                <a:ea typeface="Helvetica Neue"/>
                <a:cs typeface="Helvetica Neue"/>
              </a:rPr>
              <a:t>118</a:t>
            </a:r>
          </a:p>
        </p:txBody>
      </p:sp>
      <p:sp>
        <p:nvSpPr>
          <p:cNvPr id="5" name="">
            <a:extLst xmlns:a="http://schemas.openxmlformats.org/drawingml/2006/main">
              <a:ext uri="{FF2B5EF4-FFF2-40B4-BE49-F238E27FC236}">
                <a16:creationId xmlns:a16="http://schemas.microsoft.com/office/drawing/2014/main" id="{7BD949A6-2438-4D5C-87B6-FC3214D4C227}"/>
              </a:ext>
            </a:extLst>
          </p:cNvPr>
          <p:cNvSpPr>
            <a:spLocks xmlns:a="http://schemas.openxmlformats.org/drawingml/2006/main" noGrp="1"/>
          </p:cNvSpPr>
          <p:nvPr/>
        </p:nvSpPr>
        <p:spPr>
          <a:xfrm xmlns:a="http://schemas.openxmlformats.org/drawingml/2006/main">
            <a:off x="609600" y="326707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262D"/>
                </a:solidFill>
                <a:latin typeface="Helvetica Neue"/>
                <a:ea typeface="Helvetica Neue"/>
                <a:cs typeface="Helvetica Neue"/>
              </a:defRPr>
            </a:pPr>
            <a:r>
              <a:rPr sz="2400" b="1">
                <a:solidFill>
                  <a:srgbClr val="20262D"/>
                </a:solidFill>
                <a:latin typeface="Helvetica Neue"/>
                <a:ea typeface="Helvetica Neue"/>
                <a:cs typeface="Helvetica Neue"/>
              </a:rPr>
              <a:t>Core idea works</a:t>
            </a:r>
          </a:p>
        </p:txBody>
      </p:sp>
      <p:sp>
        <p:nvSpPr>
          <p:cNvPr id="6" name="">
            <a:extLst xmlns:a="http://schemas.openxmlformats.org/drawingml/2006/main">
              <a:ext uri="{FF2B5EF4-FFF2-40B4-BE49-F238E27FC236}">
                <a16:creationId xmlns:a16="http://schemas.microsoft.com/office/drawing/2014/main" id="{047694FE-ADB7-4283-A445-28D907792344}"/>
              </a:ext>
            </a:extLst>
          </p:cNvPr>
          <p:cNvSpPr>
            <a:spLocks xmlns:a="http://schemas.openxmlformats.org/drawingml/2006/main" noGrp="1"/>
          </p:cNvSpPr>
          <p:nvPr/>
        </p:nvSpPr>
        <p:spPr>
          <a:xfrm xmlns:a="http://schemas.openxmlformats.org/drawingml/2006/main">
            <a:off x="609600" y="4286250"/>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One useful workflow connects</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the interface to real storage.</a:t>
            </a:r>
          </a:p>
        </p:txBody>
      </p:sp>
      <p:sp>
        <p:nvSpPr>
          <p:cNvPr id="7" name="">
            <a:extLst xmlns:a="http://schemas.openxmlformats.org/drawingml/2006/main">
              <a:ext uri="{FF2B5EF4-FFF2-40B4-BE49-F238E27FC236}">
                <a16:creationId xmlns:a16="http://schemas.microsoft.com/office/drawing/2014/main" id="{125CB3B3-AC41-467F-99A4-2491A5F26FE2}"/>
              </a:ext>
            </a:extLst>
          </p:cNvPr>
          <p:cNvSpPr>
            <a:spLocks xmlns:a="http://schemas.openxmlformats.org/drawingml/2006/main" noGrp="1"/>
          </p:cNvSpPr>
          <p:nvPr/>
        </p:nvSpPr>
        <p:spPr>
          <a:xfrm xmlns:a="http://schemas.openxmlformats.org/drawingml/2006/main">
            <a:off x="4419600" y="20955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D23939"/>
                </a:solidFill>
                <a:latin typeface="Helvetica Neue"/>
                <a:ea typeface="Helvetica Neue"/>
                <a:cs typeface="Helvetica Neue"/>
              </a:defRPr>
            </a:pPr>
            <a:r>
              <a:rPr sz="5400" b="1">
                <a:solidFill>
                  <a:srgbClr val="D23939"/>
                </a:solidFill>
                <a:latin typeface="Helvetica Neue"/>
                <a:ea typeface="Helvetica Neue"/>
                <a:cs typeface="Helvetica Neue"/>
              </a:rPr>
              <a:t>119</a:t>
            </a:r>
          </a:p>
        </p:txBody>
      </p:sp>
      <p:sp>
        <p:nvSpPr>
          <p:cNvPr id="8" name="">
            <a:extLst xmlns:a="http://schemas.openxmlformats.org/drawingml/2006/main">
              <a:ext uri="{FF2B5EF4-FFF2-40B4-BE49-F238E27FC236}">
                <a16:creationId xmlns:a16="http://schemas.microsoft.com/office/drawing/2014/main" id="{000B1CA9-FE0C-4EB7-B715-ED12AC513595}"/>
              </a:ext>
            </a:extLst>
          </p:cNvPr>
          <p:cNvSpPr>
            <a:spLocks xmlns:a="http://schemas.openxmlformats.org/drawingml/2006/main" noGrp="1"/>
          </p:cNvSpPr>
          <p:nvPr/>
        </p:nvSpPr>
        <p:spPr>
          <a:xfrm xmlns:a="http://schemas.openxmlformats.org/drawingml/2006/main">
            <a:off x="4419600" y="326707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262D"/>
                </a:solidFill>
                <a:latin typeface="Helvetica Neue"/>
                <a:ea typeface="Helvetica Neue"/>
                <a:cs typeface="Helvetica Neue"/>
              </a:defRPr>
            </a:pPr>
            <a:r>
              <a:rPr sz="2400" b="1">
                <a:solidFill>
                  <a:srgbClr val="20262D"/>
                </a:solidFill>
                <a:latin typeface="Helvetica Neue"/>
                <a:ea typeface="Helvetica Neue"/>
                <a:cs typeface="Helvetica Neue"/>
              </a:rPr>
              <a:t>MVP is complete</a:t>
            </a:r>
          </a:p>
        </p:txBody>
      </p:sp>
      <p:sp>
        <p:nvSpPr>
          <p:cNvPr id="9" name="">
            <a:extLst xmlns:a="http://schemas.openxmlformats.org/drawingml/2006/main">
              <a:ext uri="{FF2B5EF4-FFF2-40B4-BE49-F238E27FC236}">
                <a16:creationId xmlns:a16="http://schemas.microsoft.com/office/drawing/2014/main" id="{8F53707F-E046-4253-B5C9-BFCA40D27EE5}"/>
              </a:ext>
            </a:extLst>
          </p:cNvPr>
          <p:cNvSpPr>
            <a:spLocks xmlns:a="http://schemas.openxmlformats.org/drawingml/2006/main" noGrp="1"/>
          </p:cNvSpPr>
          <p:nvPr/>
        </p:nvSpPr>
        <p:spPr>
          <a:xfrm xmlns:a="http://schemas.openxmlformats.org/drawingml/2006/main">
            <a:off x="4419600" y="4286250"/>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Someone else can complete</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the essential user journey.</a:t>
            </a:r>
          </a:p>
        </p:txBody>
      </p:sp>
      <p:sp>
        <p:nvSpPr>
          <p:cNvPr id="10" name="">
            <a:extLst xmlns:a="http://schemas.openxmlformats.org/drawingml/2006/main">
              <a:ext uri="{FF2B5EF4-FFF2-40B4-BE49-F238E27FC236}">
                <a16:creationId xmlns:a16="http://schemas.microsoft.com/office/drawing/2014/main" id="{364BC9F3-63CC-493E-B4EC-E32F45478890}"/>
              </a:ext>
            </a:extLst>
          </p:cNvPr>
          <p:cNvSpPr>
            <a:spLocks xmlns:a="http://schemas.openxmlformats.org/drawingml/2006/main" noGrp="1"/>
          </p:cNvSpPr>
          <p:nvPr/>
        </p:nvSpPr>
        <p:spPr>
          <a:xfrm xmlns:a="http://schemas.openxmlformats.org/drawingml/2006/main">
            <a:off x="8229600" y="20955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D23939"/>
                </a:solidFill>
                <a:latin typeface="Helvetica Neue"/>
                <a:ea typeface="Helvetica Neue"/>
                <a:cs typeface="Helvetica Neue"/>
              </a:defRPr>
            </a:pPr>
            <a:r>
              <a:rPr sz="5400" b="1">
                <a:solidFill>
                  <a:srgbClr val="D23939"/>
                </a:solidFill>
                <a:latin typeface="Helvetica Neue"/>
                <a:ea typeface="Helvetica Neue"/>
                <a:cs typeface="Helvetica Neue"/>
              </a:rPr>
              <a:t>120</a:t>
            </a:r>
          </a:p>
        </p:txBody>
      </p:sp>
      <p:sp>
        <p:nvSpPr>
          <p:cNvPr id="11" name="">
            <a:extLst xmlns:a="http://schemas.openxmlformats.org/drawingml/2006/main">
              <a:ext uri="{FF2B5EF4-FFF2-40B4-BE49-F238E27FC236}">
                <a16:creationId xmlns:a16="http://schemas.microsoft.com/office/drawing/2014/main" id="{FAC6F0EE-46E5-4E2B-BBB2-8CEFCEDD2E5D}"/>
              </a:ext>
            </a:extLst>
          </p:cNvPr>
          <p:cNvSpPr>
            <a:spLocks xmlns:a="http://schemas.openxmlformats.org/drawingml/2006/main" noGrp="1"/>
          </p:cNvSpPr>
          <p:nvPr/>
        </p:nvSpPr>
        <p:spPr>
          <a:xfrm xmlns:a="http://schemas.openxmlformats.org/drawingml/2006/main">
            <a:off x="8229600" y="326707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262D"/>
                </a:solidFill>
                <a:latin typeface="Helvetica Neue"/>
                <a:ea typeface="Helvetica Neue"/>
                <a:cs typeface="Helvetica Neue"/>
              </a:defRPr>
            </a:pPr>
            <a:r>
              <a:rPr sz="2400" b="1">
                <a:solidFill>
                  <a:srgbClr val="20262D"/>
                </a:solidFill>
                <a:latin typeface="Helvetica Neue"/>
                <a:ea typeface="Helvetica Neue"/>
                <a:cs typeface="Helvetica Neue"/>
              </a:rPr>
              <a:t>Product is ready</a:t>
            </a:r>
          </a:p>
        </p:txBody>
      </p:sp>
      <p:sp>
        <p:nvSpPr>
          <p:cNvPr id="12" name="">
            <a:extLst xmlns:a="http://schemas.openxmlformats.org/drawingml/2006/main">
              <a:ext uri="{FF2B5EF4-FFF2-40B4-BE49-F238E27FC236}">
                <a16:creationId xmlns:a16="http://schemas.microsoft.com/office/drawing/2014/main" id="{9C0F8F6D-4595-45DE-AFE2-6B516F84B2A6}"/>
              </a:ext>
            </a:extLst>
          </p:cNvPr>
          <p:cNvSpPr>
            <a:spLocks xmlns:a="http://schemas.openxmlformats.org/drawingml/2006/main" noGrp="1"/>
          </p:cNvSpPr>
          <p:nvPr/>
        </p:nvSpPr>
        <p:spPr>
          <a:xfrm xmlns:a="http://schemas.openxmlformats.org/drawingml/2006/main">
            <a:off x="8229600" y="4286250"/>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A tested release is accessible</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and ready to demonstrate.</a:t>
            </a:r>
          </a:p>
        </p:txBody>
      </p:sp>
    </p:spTree>
    <p:extLst>
      <p:ext uri="{BB962C8B-B14F-4D97-AF65-F5344CB8AC3E}">
        <p14:creationId xmlns:p14="http://schemas.microsoft.com/office/powerpoint/2010/main" val="602554225"/>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85EEDF-E78E-47CD-A4AF-9D6F69061869}"/>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 118  /  CLASSES 1–6</a:t>
            </a:r>
          </a:p>
        </p:txBody>
      </p:sp>
      <p:sp>
        <p:nvSpPr>
          <p:cNvPr id="2" name="">
            <a:extLst xmlns:a="http://schemas.openxmlformats.org/drawingml/2006/main">
              <a:ext uri="{FF2B5EF4-FFF2-40B4-BE49-F238E27FC236}">
                <a16:creationId xmlns:a16="http://schemas.microsoft.com/office/drawing/2014/main" id="{BB9477B0-0143-46D9-937A-C1C69DD997FA}"/>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118: The core idea works</a:t>
            </a:r>
          </a:p>
        </p:txBody>
      </p:sp>
      <p:sp>
        <p:nvSpPr>
          <p:cNvPr id="3" name="">
            <a:extLst xmlns:a="http://schemas.openxmlformats.org/drawingml/2006/main">
              <a:ext uri="{FF2B5EF4-FFF2-40B4-BE49-F238E27FC236}">
                <a16:creationId xmlns:a16="http://schemas.microsoft.com/office/drawing/2014/main" id="{A2C5D5B7-097A-42F7-901A-5D52B21E5808}"/>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7F74489D-F88E-4E72-A559-A5B0972AF897}"/>
              </a:ext>
            </a:extLst>
          </p:cNvPr>
          <p:cNvSpPr>
            <a:spLocks xmlns:a="http://schemas.openxmlformats.org/drawingml/2006/main" noGrp="1"/>
          </p:cNvSpPr>
          <p:nvPr/>
        </p:nvSpPr>
        <p:spPr>
          <a:xfrm xmlns:a="http://schemas.openxmlformats.org/drawingml/2006/main">
            <a:off x="609600" y="20288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23939"/>
                </a:solidFill>
                <a:latin typeface="Helvetica Neue"/>
                <a:ea typeface="Helvetica Neue"/>
                <a:cs typeface="Helvetica Neue"/>
              </a:defRPr>
            </a:pPr>
            <a:r>
              <a:rPr sz="1950" b="1">
                <a:solidFill>
                  <a:srgbClr val="D23939"/>
                </a:solidFill>
                <a:latin typeface="Helvetica Neue"/>
                <a:ea typeface="Helvetica Neue"/>
                <a:cs typeface="Helvetica Neue"/>
              </a:rPr>
              <a:t>Finish line</a:t>
            </a:r>
          </a:p>
        </p:txBody>
      </p:sp>
      <p:sp>
        <p:nvSpPr>
          <p:cNvPr id="5" name="">
            <a:extLst xmlns:a="http://schemas.openxmlformats.org/drawingml/2006/main">
              <a:ext uri="{FF2B5EF4-FFF2-40B4-BE49-F238E27FC236}">
                <a16:creationId xmlns:a16="http://schemas.microsoft.com/office/drawing/2014/main" id="{DF7BCA08-FD73-4BF4-AD37-6683EB7BC75B}"/>
              </a:ext>
            </a:extLst>
          </p:cNvPr>
          <p:cNvSpPr>
            <a:spLocks xmlns:a="http://schemas.openxmlformats.org/drawingml/2006/main" noGrp="1"/>
          </p:cNvSpPr>
          <p:nvPr/>
        </p:nvSpPr>
        <p:spPr>
          <a:xfrm xmlns:a="http://schemas.openxmlformats.org/drawingml/2006/main">
            <a:off x="609600" y="25146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One small workflow works</a:t>
            </a:r>
          </a:p>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from screen to storage.</a:t>
            </a:r>
          </a:p>
        </p:txBody>
      </p:sp>
      <p:sp>
        <p:nvSpPr>
          <p:cNvPr id="6" name="">
            <a:extLst xmlns:a="http://schemas.openxmlformats.org/drawingml/2006/main">
              <a:ext uri="{FF2B5EF4-FFF2-40B4-BE49-F238E27FC236}">
                <a16:creationId xmlns:a16="http://schemas.microsoft.com/office/drawing/2014/main" id="{AC99A978-BBE0-4E99-9EB2-D052A8511486}"/>
              </a:ext>
            </a:extLst>
          </p:cNvPr>
          <p:cNvSpPr>
            <a:spLocks xmlns:a="http://schemas.openxmlformats.org/drawingml/2006/main" noGrp="1"/>
          </p:cNvSpPr>
          <p:nvPr/>
        </p:nvSpPr>
        <p:spPr>
          <a:xfrm xmlns:a="http://schemas.openxmlformats.org/drawingml/2006/main">
            <a:off x="609600" y="3819525"/>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A user completes a useful action.</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The app saves and retrieves real data.</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Validation and feedback support the action.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ae7d24704234f98"/>
          <a:stretch xmlns:a="http://schemas.openxmlformats.org/drawingml/2006/main"/>
        </p:blipFill>
        <p:spPr>
          <a:xfrm xmlns:a="http://schemas.openxmlformats.org/drawingml/2006/main">
            <a:off x="5810250" y="2095500"/>
            <a:ext cx="5772150" cy="3848100"/>
          </a:xfrm>
          <a:prstGeom xmlns:a="http://schemas.openxmlformats.org/drawingml/2006/main" prst="rect">
            <a:avLst/>
          </a:prstGeom>
        </p:spPr>
      </p:pic>
    </p:spTree>
    <p:extLst>
      <p:ext uri="{BB962C8B-B14F-4D97-AF65-F5344CB8AC3E}">
        <p14:creationId xmlns:p14="http://schemas.microsoft.com/office/powerpoint/2010/main" val="1135514894"/>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F550F01-FFC1-46B6-8867-DA75C345F91F}"/>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 118  /  SUGGESTED CHECKPOINTS</a:t>
            </a:r>
          </a:p>
        </p:txBody>
      </p:sp>
      <p:sp>
        <p:nvSpPr>
          <p:cNvPr id="2" name="">
            <a:extLst xmlns:a="http://schemas.openxmlformats.org/drawingml/2006/main">
              <a:ext uri="{FF2B5EF4-FFF2-40B4-BE49-F238E27FC236}">
                <a16:creationId xmlns:a16="http://schemas.microsoft.com/office/drawing/2014/main" id="{C3E9081D-7748-405B-B439-D84A4C442C74}"/>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118: A path to the first working workflow</a:t>
            </a:r>
          </a:p>
        </p:txBody>
      </p:sp>
      <p:sp>
        <p:nvSpPr>
          <p:cNvPr id="3" name="">
            <a:extLst xmlns:a="http://schemas.openxmlformats.org/drawingml/2006/main">
              <a:ext uri="{FF2B5EF4-FFF2-40B4-BE49-F238E27FC236}">
                <a16:creationId xmlns:a16="http://schemas.microsoft.com/office/drawing/2014/main" id="{0A1010DB-4DF3-4818-AAFA-35FF4522C162}"/>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15FCFA10-B863-4602-A2F8-1B3A8AE58B18}"/>
              </a:ext>
            </a:extLst>
          </p:cNvPr>
          <p:cNvSpPr>
            <a:spLocks xmlns:a="http://schemas.openxmlformats.org/drawingml/2006/main" noGrp="1"/>
          </p:cNvSpPr>
          <p:nvPr/>
        </p:nvSpPr>
        <p:spPr>
          <a:xfrm xmlns:a="http://schemas.openxmlformats.org/drawingml/2006/main">
            <a:off x="609600" y="20097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Classes 1–2</a:t>
            </a:r>
          </a:p>
        </p:txBody>
      </p:sp>
      <p:sp>
        <p:nvSpPr>
          <p:cNvPr id="5" name="">
            <a:extLst xmlns:a="http://schemas.openxmlformats.org/drawingml/2006/main">
              <a:ext uri="{FF2B5EF4-FFF2-40B4-BE49-F238E27FC236}">
                <a16:creationId xmlns:a16="http://schemas.microsoft.com/office/drawing/2014/main" id="{EA2C4640-5C7F-494C-A72D-6CE03005BE83}"/>
              </a:ext>
            </a:extLst>
          </p:cNvPr>
          <p:cNvSpPr>
            <a:spLocks xmlns:a="http://schemas.openxmlformats.org/drawingml/2006/main" noGrp="1"/>
          </p:cNvSpPr>
          <p:nvPr/>
        </p:nvSpPr>
        <p:spPr>
          <a:xfrm xmlns:a="http://schemas.openxmlformats.org/drawingml/2006/main">
            <a:off x="3238500" y="2009775"/>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Choose the user journey and launch the project.</a:t>
            </a:r>
          </a:p>
        </p:txBody>
      </p:sp>
      <p:sp>
        <p:nvSpPr>
          <p:cNvPr id="6" name="">
            <a:extLst xmlns:a="http://schemas.openxmlformats.org/drawingml/2006/main">
              <a:ext uri="{FF2B5EF4-FFF2-40B4-BE49-F238E27FC236}">
                <a16:creationId xmlns:a16="http://schemas.microsoft.com/office/drawing/2014/main" id="{00EB7ABE-8995-4EDD-92E2-A3FBF41AC42D}"/>
              </a:ext>
            </a:extLst>
          </p:cNvPr>
          <p:cNvSpPr>
            <a:spLocks xmlns:a="http://schemas.openxmlformats.org/drawingml/2006/main" noGrp="1"/>
          </p:cNvSpPr>
          <p:nvPr/>
        </p:nvSpPr>
        <p:spPr>
          <a:xfrm xmlns:a="http://schemas.openxmlformats.org/drawingml/2006/main">
            <a:off x="609600" y="278130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3</a:t>
            </a:r>
          </a:p>
        </p:txBody>
      </p:sp>
      <p:sp>
        <p:nvSpPr>
          <p:cNvPr id="7" name="">
            <a:extLst xmlns:a="http://schemas.openxmlformats.org/drawingml/2006/main">
              <a:ext uri="{FF2B5EF4-FFF2-40B4-BE49-F238E27FC236}">
                <a16:creationId xmlns:a16="http://schemas.microsoft.com/office/drawing/2014/main" id="{E37DA6B0-C255-48DE-8FD2-886C80D3573F}"/>
              </a:ext>
            </a:extLst>
          </p:cNvPr>
          <p:cNvSpPr>
            <a:spLocks xmlns:a="http://schemas.openxmlformats.org/drawingml/2006/main" noGrp="1"/>
          </p:cNvSpPr>
          <p:nvPr/>
        </p:nvSpPr>
        <p:spPr>
          <a:xfrm xmlns:a="http://schemas.openxmlformats.org/drawingml/2006/main">
            <a:off x="3238500" y="2781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Create and retrieve one meaningful record.</a:t>
            </a:r>
          </a:p>
        </p:txBody>
      </p:sp>
      <p:sp>
        <p:nvSpPr>
          <p:cNvPr id="8" name="">
            <a:extLst xmlns:a="http://schemas.openxmlformats.org/drawingml/2006/main">
              <a:ext uri="{FF2B5EF4-FFF2-40B4-BE49-F238E27FC236}">
                <a16:creationId xmlns:a16="http://schemas.microsoft.com/office/drawing/2014/main" id="{50C1DCBC-8A8F-40A0-B91F-C899BE193F2A}"/>
              </a:ext>
            </a:extLst>
          </p:cNvPr>
          <p:cNvSpPr>
            <a:spLocks xmlns:a="http://schemas.openxmlformats.org/drawingml/2006/main" noGrp="1"/>
          </p:cNvSpPr>
          <p:nvPr/>
        </p:nvSpPr>
        <p:spPr>
          <a:xfrm xmlns:a="http://schemas.openxmlformats.org/drawingml/2006/main">
            <a:off x="609600" y="355282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4</a:t>
            </a:r>
          </a:p>
        </p:txBody>
      </p:sp>
      <p:sp>
        <p:nvSpPr>
          <p:cNvPr id="9" name="">
            <a:extLst xmlns:a="http://schemas.openxmlformats.org/drawingml/2006/main">
              <a:ext uri="{FF2B5EF4-FFF2-40B4-BE49-F238E27FC236}">
                <a16:creationId xmlns:a16="http://schemas.microsoft.com/office/drawing/2014/main" id="{97500D54-7945-4D08-B715-32F36B9C81F5}"/>
              </a:ext>
            </a:extLst>
          </p:cNvPr>
          <p:cNvSpPr>
            <a:spLocks xmlns:a="http://schemas.openxmlformats.org/drawingml/2006/main" noGrp="1"/>
          </p:cNvSpPr>
          <p:nvPr/>
        </p:nvSpPr>
        <p:spPr>
          <a:xfrm xmlns:a="http://schemas.openxmlformats.org/drawingml/2006/main">
            <a:off x="3238500" y="3552825"/>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Implement identity and access where needed.</a:t>
            </a:r>
          </a:p>
        </p:txBody>
      </p:sp>
      <p:sp>
        <p:nvSpPr>
          <p:cNvPr id="10" name="">
            <a:extLst xmlns:a="http://schemas.openxmlformats.org/drawingml/2006/main">
              <a:ext uri="{FF2B5EF4-FFF2-40B4-BE49-F238E27FC236}">
                <a16:creationId xmlns:a16="http://schemas.microsoft.com/office/drawing/2014/main" id="{042A7006-4270-44EF-9357-DC4B05035365}"/>
              </a:ext>
            </a:extLst>
          </p:cNvPr>
          <p:cNvSpPr>
            <a:spLocks xmlns:a="http://schemas.openxmlformats.org/drawingml/2006/main" noGrp="1"/>
          </p:cNvSpPr>
          <p:nvPr/>
        </p:nvSpPr>
        <p:spPr>
          <a:xfrm xmlns:a="http://schemas.openxmlformats.org/drawingml/2006/main">
            <a:off x="609600" y="432435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5</a:t>
            </a:r>
          </a:p>
        </p:txBody>
      </p:sp>
      <p:sp>
        <p:nvSpPr>
          <p:cNvPr id="11" name="">
            <a:extLst xmlns:a="http://schemas.openxmlformats.org/drawingml/2006/main">
              <a:ext uri="{FF2B5EF4-FFF2-40B4-BE49-F238E27FC236}">
                <a16:creationId xmlns:a16="http://schemas.microsoft.com/office/drawing/2014/main" id="{16087972-033A-4AEF-8B4B-85E1A4373CBD}"/>
              </a:ext>
            </a:extLst>
          </p:cNvPr>
          <p:cNvSpPr>
            <a:spLocks xmlns:a="http://schemas.openxmlformats.org/drawingml/2006/main" noGrp="1"/>
          </p:cNvSpPr>
          <p:nvPr/>
        </p:nvSpPr>
        <p:spPr>
          <a:xfrm xmlns:a="http://schemas.openxmlformats.org/drawingml/2006/main">
            <a:off x="3238500" y="43243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Connect the complete action and validate input.</a:t>
            </a:r>
          </a:p>
        </p:txBody>
      </p:sp>
      <p:sp>
        <p:nvSpPr>
          <p:cNvPr id="12" name="">
            <a:extLst xmlns:a="http://schemas.openxmlformats.org/drawingml/2006/main">
              <a:ext uri="{FF2B5EF4-FFF2-40B4-BE49-F238E27FC236}">
                <a16:creationId xmlns:a16="http://schemas.microsoft.com/office/drawing/2014/main" id="{62FF5115-F607-46BE-A01B-75EAB8209574}"/>
              </a:ext>
            </a:extLst>
          </p:cNvPr>
          <p:cNvSpPr>
            <a:spLocks xmlns:a="http://schemas.openxmlformats.org/drawingml/2006/main" noGrp="1"/>
          </p:cNvSpPr>
          <p:nvPr/>
        </p:nvSpPr>
        <p:spPr>
          <a:xfrm xmlns:a="http://schemas.openxmlformats.org/drawingml/2006/main">
            <a:off x="609600" y="50958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6</a:t>
            </a:r>
          </a:p>
        </p:txBody>
      </p:sp>
      <p:sp>
        <p:nvSpPr>
          <p:cNvPr id="13" name="">
            <a:extLst xmlns:a="http://schemas.openxmlformats.org/drawingml/2006/main">
              <a:ext uri="{FF2B5EF4-FFF2-40B4-BE49-F238E27FC236}">
                <a16:creationId xmlns:a16="http://schemas.microsoft.com/office/drawing/2014/main" id="{C15E9179-9BAD-4008-975E-88063A688FBF}"/>
              </a:ext>
            </a:extLst>
          </p:cNvPr>
          <p:cNvSpPr>
            <a:spLocks xmlns:a="http://schemas.openxmlformats.org/drawingml/2006/main" noGrp="1"/>
          </p:cNvSpPr>
          <p:nvPr/>
        </p:nvSpPr>
        <p:spPr>
          <a:xfrm xmlns:a="http://schemas.openxmlformats.org/drawingml/2006/main">
            <a:off x="3238500" y="5095875"/>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Demonstrate the workflow and revise the scope.</a:t>
            </a:r>
          </a:p>
        </p:txBody>
      </p:sp>
    </p:spTree>
    <p:extLst>
      <p:ext uri="{BB962C8B-B14F-4D97-AF65-F5344CB8AC3E}">
        <p14:creationId xmlns:p14="http://schemas.microsoft.com/office/powerpoint/2010/main" val="1876325150"/>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B80EA1-95A0-461E-A23F-C4640A160FD2}"/>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 119  /  CLASSES 7–12</a:t>
            </a:r>
          </a:p>
        </p:txBody>
      </p:sp>
      <p:sp>
        <p:nvSpPr>
          <p:cNvPr id="2" name="">
            <a:extLst xmlns:a="http://schemas.openxmlformats.org/drawingml/2006/main">
              <a:ext uri="{FF2B5EF4-FFF2-40B4-BE49-F238E27FC236}">
                <a16:creationId xmlns:a16="http://schemas.microsoft.com/office/drawing/2014/main" id="{89531039-25B7-474A-B64B-79E664F2D32E}"/>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119: The MVP is complete</a:t>
            </a:r>
          </a:p>
        </p:txBody>
      </p:sp>
      <p:sp>
        <p:nvSpPr>
          <p:cNvPr id="3" name="">
            <a:extLst xmlns:a="http://schemas.openxmlformats.org/drawingml/2006/main">
              <a:ext uri="{FF2B5EF4-FFF2-40B4-BE49-F238E27FC236}">
                <a16:creationId xmlns:a16="http://schemas.microsoft.com/office/drawing/2014/main" id="{51F3CDFE-6B65-4F3E-BB89-68E7B7FDAB03}"/>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B446F53D-C76C-4700-9644-83CC597B0D51}"/>
              </a:ext>
            </a:extLst>
          </p:cNvPr>
          <p:cNvSpPr>
            <a:spLocks xmlns:a="http://schemas.openxmlformats.org/drawingml/2006/main" noGrp="1"/>
          </p:cNvSpPr>
          <p:nvPr/>
        </p:nvSpPr>
        <p:spPr>
          <a:xfrm xmlns:a="http://schemas.openxmlformats.org/drawingml/2006/main">
            <a:off x="609600" y="20288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23939"/>
                </a:solidFill>
                <a:latin typeface="Helvetica Neue"/>
                <a:ea typeface="Helvetica Neue"/>
                <a:cs typeface="Helvetica Neue"/>
              </a:defRPr>
            </a:pPr>
            <a:r>
              <a:rPr sz="1950" b="1">
                <a:solidFill>
                  <a:srgbClr val="D23939"/>
                </a:solidFill>
                <a:latin typeface="Helvetica Neue"/>
                <a:ea typeface="Helvetica Neue"/>
                <a:cs typeface="Helvetica Neue"/>
              </a:rPr>
              <a:t>Finish line</a:t>
            </a:r>
          </a:p>
        </p:txBody>
      </p:sp>
      <p:sp>
        <p:nvSpPr>
          <p:cNvPr id="5" name="">
            <a:extLst xmlns:a="http://schemas.openxmlformats.org/drawingml/2006/main">
              <a:ext uri="{FF2B5EF4-FFF2-40B4-BE49-F238E27FC236}">
                <a16:creationId xmlns:a16="http://schemas.microsoft.com/office/drawing/2014/main" id="{E62E6A82-95FE-46EA-9082-04E8D6BF02CD}"/>
              </a:ext>
            </a:extLst>
          </p:cNvPr>
          <p:cNvSpPr>
            <a:spLocks xmlns:a="http://schemas.openxmlformats.org/drawingml/2006/main" noGrp="1"/>
          </p:cNvSpPr>
          <p:nvPr/>
        </p:nvSpPr>
        <p:spPr>
          <a:xfrm xmlns:a="http://schemas.openxmlformats.org/drawingml/2006/main">
            <a:off x="609600" y="25146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Another person completes</a:t>
            </a:r>
          </a:p>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the essential journey.</a:t>
            </a:r>
          </a:p>
        </p:txBody>
      </p:sp>
      <p:sp>
        <p:nvSpPr>
          <p:cNvPr id="6" name="">
            <a:extLst xmlns:a="http://schemas.openxmlformats.org/drawingml/2006/main">
              <a:ext uri="{FF2B5EF4-FFF2-40B4-BE49-F238E27FC236}">
                <a16:creationId xmlns:a16="http://schemas.microsoft.com/office/drawing/2014/main" id="{C8F76462-266A-44A6-BC53-433893E51707}"/>
              </a:ext>
            </a:extLst>
          </p:cNvPr>
          <p:cNvSpPr>
            <a:spLocks xmlns:a="http://schemas.openxmlformats.org/drawingml/2006/main" noGrp="1"/>
          </p:cNvSpPr>
          <p:nvPr/>
        </p:nvSpPr>
        <p:spPr>
          <a:xfrm xmlns:a="http://schemas.openxmlformats.org/drawingml/2006/main">
            <a:off x="609600" y="3781425"/>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Essential features connect.</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Empty and error states make sense.</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Core tests repeat reliably.</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User feedback produces an improvement.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4df7cf7655d42e1"/>
          <a:stretch xmlns:a="http://schemas.openxmlformats.org/drawingml/2006/main"/>
        </p:blipFill>
        <p:spPr>
          <a:xfrm xmlns:a="http://schemas.openxmlformats.org/drawingml/2006/main">
            <a:off x="5810250" y="2095500"/>
            <a:ext cx="5772150" cy="3848100"/>
          </a:xfrm>
          <a:prstGeom xmlns:a="http://schemas.openxmlformats.org/drawingml/2006/main" prst="rect">
            <a:avLst/>
          </a:prstGeom>
        </p:spPr>
      </p:pic>
    </p:spTree>
    <p:extLst>
      <p:ext uri="{BB962C8B-B14F-4D97-AF65-F5344CB8AC3E}">
        <p14:creationId xmlns:p14="http://schemas.microsoft.com/office/powerpoint/2010/main" val="917654325"/>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FF3F50-2EF3-4353-8707-57DB14DB6B1D}"/>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 120  /  CLASSES 13–18</a:t>
            </a:r>
          </a:p>
        </p:txBody>
      </p:sp>
      <p:sp>
        <p:nvSpPr>
          <p:cNvPr id="2" name="">
            <a:extLst xmlns:a="http://schemas.openxmlformats.org/drawingml/2006/main">
              <a:ext uri="{FF2B5EF4-FFF2-40B4-BE49-F238E27FC236}">
                <a16:creationId xmlns:a16="http://schemas.microsoft.com/office/drawing/2014/main" id="{66BC734A-6F6A-4437-A1BE-04E5C12FA60D}"/>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120: The product is ready to deliver</a:t>
            </a:r>
          </a:p>
        </p:txBody>
      </p:sp>
      <p:sp>
        <p:nvSpPr>
          <p:cNvPr id="3" name="">
            <a:extLst xmlns:a="http://schemas.openxmlformats.org/drawingml/2006/main">
              <a:ext uri="{FF2B5EF4-FFF2-40B4-BE49-F238E27FC236}">
                <a16:creationId xmlns:a16="http://schemas.microsoft.com/office/drawing/2014/main" id="{85EF8095-46CD-4022-AAB1-1BEE02BD4F1E}"/>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8F682358-86CD-423B-BEB6-C847F9872E4A}"/>
              </a:ext>
            </a:extLst>
          </p:cNvPr>
          <p:cNvSpPr>
            <a:spLocks xmlns:a="http://schemas.openxmlformats.org/drawingml/2006/main" noGrp="1"/>
          </p:cNvSpPr>
          <p:nvPr/>
        </p:nvSpPr>
        <p:spPr>
          <a:xfrm xmlns:a="http://schemas.openxmlformats.org/drawingml/2006/main">
            <a:off x="609600" y="20288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23939"/>
                </a:solidFill>
                <a:latin typeface="Helvetica Neue"/>
                <a:ea typeface="Helvetica Neue"/>
                <a:cs typeface="Helvetica Neue"/>
              </a:defRPr>
            </a:pPr>
            <a:r>
              <a:rPr sz="1950" b="1">
                <a:solidFill>
                  <a:srgbClr val="D23939"/>
                </a:solidFill>
                <a:latin typeface="Helvetica Neue"/>
                <a:ea typeface="Helvetica Neue"/>
                <a:cs typeface="Helvetica Neue"/>
              </a:rPr>
              <a:t>Finish line</a:t>
            </a:r>
          </a:p>
        </p:txBody>
      </p:sp>
      <p:sp>
        <p:nvSpPr>
          <p:cNvPr id="5" name="">
            <a:extLst xmlns:a="http://schemas.openxmlformats.org/drawingml/2006/main">
              <a:ext uri="{FF2B5EF4-FFF2-40B4-BE49-F238E27FC236}">
                <a16:creationId xmlns:a16="http://schemas.microsoft.com/office/drawing/2014/main" id="{2E22F658-0B4F-4460-A767-D9D023A25910}"/>
              </a:ext>
            </a:extLst>
          </p:cNvPr>
          <p:cNvSpPr>
            <a:spLocks xmlns:a="http://schemas.openxmlformats.org/drawingml/2006/main" noGrp="1"/>
          </p:cNvSpPr>
          <p:nvPr/>
        </p:nvSpPr>
        <p:spPr>
          <a:xfrm xmlns:a="http://schemas.openxmlformats.org/drawingml/2006/main">
            <a:off x="609600" y="25146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A tested release that</a:t>
            </a:r>
          </a:p>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others can access.</a:t>
            </a:r>
          </a:p>
        </p:txBody>
      </p:sp>
      <p:sp>
        <p:nvSpPr>
          <p:cNvPr id="6" name="">
            <a:extLst xmlns:a="http://schemas.openxmlformats.org/drawingml/2006/main">
              <a:ext uri="{FF2B5EF4-FFF2-40B4-BE49-F238E27FC236}">
                <a16:creationId xmlns:a16="http://schemas.microsoft.com/office/drawing/2014/main" id="{27BAB886-E082-46E7-A9E5-55BB27D69F72}"/>
              </a:ext>
            </a:extLst>
          </p:cNvPr>
          <p:cNvSpPr>
            <a:spLocks xmlns:a="http://schemas.openxmlformats.org/drawingml/2006/main" noGrp="1"/>
          </p:cNvSpPr>
          <p:nvPr/>
        </p:nvSpPr>
        <p:spPr>
          <a:xfrm xmlns:a="http://schemas.openxmlformats.org/drawingml/2006/main">
            <a:off x="609600" y="3781425"/>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Fix serious issues and polish usability.</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Repeat the build and core checks.</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Provide a web link or mobile build.</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Demonstrate results with evidence.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b3dcc82858d45cb"/>
          <a:stretch xmlns:a="http://schemas.openxmlformats.org/drawingml/2006/main"/>
        </p:blipFill>
        <p:spPr>
          <a:xfrm xmlns:a="http://schemas.openxmlformats.org/drawingml/2006/main">
            <a:off x="5810250" y="2095500"/>
            <a:ext cx="5772150" cy="3848100"/>
          </a:xfrm>
          <a:prstGeom xmlns:a="http://schemas.openxmlformats.org/drawingml/2006/main" prst="rect">
            <a:avLst/>
          </a:prstGeom>
        </p:spPr>
      </p:pic>
    </p:spTree>
    <p:extLst>
      <p:ext uri="{BB962C8B-B14F-4D97-AF65-F5344CB8AC3E}">
        <p14:creationId xmlns:p14="http://schemas.microsoft.com/office/powerpoint/2010/main" val="713050855"/>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7D5946-32C5-4636-A00A-F740D427FFC9}"/>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EXAMPLES  /  WEB AND MOBILE</a:t>
            </a:r>
          </a:p>
        </p:txBody>
      </p:sp>
      <p:sp>
        <p:nvSpPr>
          <p:cNvPr id="2" name="">
            <a:extLst xmlns:a="http://schemas.openxmlformats.org/drawingml/2006/main">
              <a:ext uri="{FF2B5EF4-FFF2-40B4-BE49-F238E27FC236}">
                <a16:creationId xmlns:a16="http://schemas.microsoft.com/office/drawing/2014/main" id="{41BFB45A-C30F-4206-84DD-7CF1F7764877}"/>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Different projects can meet the same standard</a:t>
            </a:r>
          </a:p>
        </p:txBody>
      </p:sp>
      <p:sp>
        <p:nvSpPr>
          <p:cNvPr id="3" name="">
            <a:extLst xmlns:a="http://schemas.openxmlformats.org/drawingml/2006/main">
              <a:ext uri="{FF2B5EF4-FFF2-40B4-BE49-F238E27FC236}">
                <a16:creationId xmlns:a16="http://schemas.microsoft.com/office/drawing/2014/main" id="{6274DCBA-40A9-45BB-9FA4-3D5BABA00A6A}"/>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D8576870-2C23-494B-AF10-12D318E35006}"/>
              </a:ext>
            </a:extLst>
          </p:cNvPr>
          <p:cNvSpPr>
            <a:spLocks xmlns:a="http://schemas.openxmlformats.org/drawingml/2006/main" noGrp="1"/>
          </p:cNvSpPr>
          <p:nvPr/>
        </p:nvSpPr>
        <p:spPr>
          <a:xfrm xmlns:a="http://schemas.openxmlformats.org/drawingml/2006/main">
            <a:off x="609600" y="2095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23939"/>
                </a:solidFill>
                <a:latin typeface="Helvetica Neue"/>
                <a:ea typeface="Helvetica Neue"/>
                <a:cs typeface="Helvetica Neue"/>
              </a:defRPr>
            </a:pPr>
            <a:r>
              <a:rPr sz="2550" b="1">
                <a:solidFill>
                  <a:srgbClr val="D23939"/>
                </a:solidFill>
                <a:latin typeface="Helvetica Neue"/>
                <a:ea typeface="Helvetica Neue"/>
                <a:cs typeface="Helvetica Neue"/>
              </a:rPr>
              <a:t>A web booking app</a:t>
            </a:r>
          </a:p>
        </p:txBody>
      </p:sp>
      <p:sp>
        <p:nvSpPr>
          <p:cNvPr id="5" name="">
            <a:extLst xmlns:a="http://schemas.openxmlformats.org/drawingml/2006/main">
              <a:ext uri="{FF2B5EF4-FFF2-40B4-BE49-F238E27FC236}">
                <a16:creationId xmlns:a16="http://schemas.microsoft.com/office/drawing/2014/main" id="{AC5786B2-C58D-4199-AECA-0B6D752F4F87}"/>
              </a:ext>
            </a:extLst>
          </p:cNvPr>
          <p:cNvSpPr>
            <a:spLocks xmlns:a="http://schemas.openxmlformats.org/drawingml/2006/main" noGrp="1"/>
          </p:cNvSpPr>
          <p:nvPr/>
        </p:nvSpPr>
        <p:spPr>
          <a:xfrm xmlns:a="http://schemas.openxmlformats.org/drawingml/2006/main">
            <a:off x="609600" y="2905125"/>
            <a:ext cx="5238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118   Create and reopen a booking.</a:t>
            </a:r>
          </a:p>
          <a:p xmlns:a="http://schemas.openxmlformats.org/drawingml/2006/main">
            <a:r>
              <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119   Complete booking management,</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          with access rules and error handling.</a:t>
            </a:r>
          </a:p>
          <a:p xmlns:a="http://schemas.openxmlformats.org/drawingml/2006/main">
            <a:r>
              <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120   Deliver a tested web release</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          with clear access instructions.</a:t>
            </a:r>
          </a:p>
        </p:txBody>
      </p:sp>
      <p:sp>
        <p:nvSpPr>
          <p:cNvPr id="6" name="">
            <a:extLst xmlns:a="http://schemas.openxmlformats.org/drawingml/2006/main">
              <a:ext uri="{FF2B5EF4-FFF2-40B4-BE49-F238E27FC236}">
                <a16:creationId xmlns:a16="http://schemas.microsoft.com/office/drawing/2014/main" id="{C7C62405-4D4A-4B29-B4EA-FDA89DA14707}"/>
              </a:ext>
            </a:extLst>
          </p:cNvPr>
          <p:cNvSpPr>
            <a:spLocks xmlns:a="http://schemas.openxmlformats.org/drawingml/2006/main" noGrp="1"/>
          </p:cNvSpPr>
          <p:nvPr/>
        </p:nvSpPr>
        <p:spPr>
          <a:xfrm xmlns:a="http://schemas.openxmlformats.org/drawingml/2006/main">
            <a:off x="6419850" y="2095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23939"/>
                </a:solidFill>
                <a:latin typeface="Helvetica Neue"/>
                <a:ea typeface="Helvetica Neue"/>
                <a:cs typeface="Helvetica Neue"/>
              </a:defRPr>
            </a:pPr>
            <a:r>
              <a:rPr sz="2550" b="1">
                <a:solidFill>
                  <a:srgbClr val="D23939"/>
                </a:solidFill>
                <a:latin typeface="Helvetica Neue"/>
                <a:ea typeface="Helvetica Neue"/>
                <a:cs typeface="Helvetica Neue"/>
              </a:rPr>
              <a:t>A mobile habit tracker</a:t>
            </a:r>
          </a:p>
        </p:txBody>
      </p:sp>
      <p:sp>
        <p:nvSpPr>
          <p:cNvPr id="7" name="">
            <a:extLst xmlns:a="http://schemas.openxmlformats.org/drawingml/2006/main">
              <a:ext uri="{FF2B5EF4-FFF2-40B4-BE49-F238E27FC236}">
                <a16:creationId xmlns:a16="http://schemas.microsoft.com/office/drawing/2014/main" id="{67CB56CA-13E5-4D17-81FC-927FA618E405}"/>
              </a:ext>
            </a:extLst>
          </p:cNvPr>
          <p:cNvSpPr>
            <a:spLocks xmlns:a="http://schemas.openxmlformats.org/drawingml/2006/main" noGrp="1"/>
          </p:cNvSpPr>
          <p:nvPr/>
        </p:nvSpPr>
        <p:spPr>
          <a:xfrm xmlns:a="http://schemas.openxmlformats.org/drawingml/2006/main">
            <a:off x="6419850" y="2905125"/>
            <a:ext cx="5238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118   Save a habit and retain it after restart.</a:t>
            </a:r>
          </a:p>
          <a:p xmlns:a="http://schemas.openxmlformats.org/drawingml/2006/main">
            <a:r>
              <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119   Complete tracking and history,</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          with useful empty and error states.</a:t>
            </a:r>
          </a:p>
          <a:p xmlns:a="http://schemas.openxmlformats.org/drawingml/2006/main">
            <a:r>
              <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120   Deliver a tested installable build</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          with clear setup instructions.</a:t>
            </a:r>
          </a:p>
        </p:txBody>
      </p:sp>
    </p:spTree>
    <p:extLst>
      <p:ext uri="{BB962C8B-B14F-4D97-AF65-F5344CB8AC3E}">
        <p14:creationId xmlns:p14="http://schemas.microsoft.com/office/powerpoint/2010/main" val="1433883537"/>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2AE3E0A-00B8-4573-B7C1-52EBAAF6BE45}"/>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COURSE-END DEMONSTRATIONS</a:t>
            </a:r>
          </a:p>
        </p:txBody>
      </p:sp>
      <p:sp>
        <p:nvSpPr>
          <p:cNvPr id="2" name="">
            <a:extLst xmlns:a="http://schemas.openxmlformats.org/drawingml/2006/main">
              <a:ext uri="{FF2B5EF4-FFF2-40B4-BE49-F238E27FC236}">
                <a16:creationId xmlns:a16="http://schemas.microsoft.com/office/drawing/2014/main" id="{5D9A8EF2-A651-4243-886D-78F37BC24D6D}"/>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Evidence at each finish line</a:t>
            </a:r>
          </a:p>
        </p:txBody>
      </p:sp>
      <p:sp>
        <p:nvSpPr>
          <p:cNvPr id="3" name="">
            <a:extLst xmlns:a="http://schemas.openxmlformats.org/drawingml/2006/main">
              <a:ext uri="{FF2B5EF4-FFF2-40B4-BE49-F238E27FC236}">
                <a16:creationId xmlns:a16="http://schemas.microsoft.com/office/drawing/2014/main" id="{90492498-1089-44CD-ABB3-2046A239FE5D}"/>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6E4AFAF6-BE42-48FE-BCE1-AFE6DECCA624}"/>
              </a:ext>
            </a:extLst>
          </p:cNvPr>
          <p:cNvSpPr>
            <a:spLocks xmlns:a="http://schemas.openxmlformats.org/drawingml/2006/main" noGrp="1"/>
          </p:cNvSpPr>
          <p:nvPr/>
        </p:nvSpPr>
        <p:spPr>
          <a:xfrm xmlns:a="http://schemas.openxmlformats.org/drawingml/2006/main">
            <a:off x="609600" y="203835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D23939"/>
                </a:solidFill>
                <a:latin typeface="Helvetica Neue"/>
                <a:ea typeface="Helvetica Neue"/>
                <a:cs typeface="Helvetica Neue"/>
              </a:defRPr>
            </a:pPr>
            <a:r>
              <a:rPr sz="4800" b="1">
                <a:solidFill>
                  <a:srgbClr val="D23939"/>
                </a:solidFill>
                <a:latin typeface="Helvetica Neue"/>
                <a:ea typeface="Helvetica Neue"/>
                <a:cs typeface="Helvetica Neue"/>
              </a:rPr>
              <a:t>118</a:t>
            </a:r>
          </a:p>
        </p:txBody>
      </p:sp>
      <p:sp>
        <p:nvSpPr>
          <p:cNvPr id="5" name="">
            <a:extLst xmlns:a="http://schemas.openxmlformats.org/drawingml/2006/main">
              <a:ext uri="{FF2B5EF4-FFF2-40B4-BE49-F238E27FC236}">
                <a16:creationId xmlns:a16="http://schemas.microsoft.com/office/drawing/2014/main" id="{CA859861-F182-4639-8D48-321A624792CF}"/>
              </a:ext>
            </a:extLst>
          </p:cNvPr>
          <p:cNvSpPr>
            <a:spLocks xmlns:a="http://schemas.openxmlformats.org/drawingml/2006/main" noGrp="1"/>
          </p:cNvSpPr>
          <p:nvPr/>
        </p:nvSpPr>
        <p:spPr>
          <a:xfrm xmlns:a="http://schemas.openxmlformats.org/drawingml/2006/main">
            <a:off x="609600" y="31908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62D"/>
                </a:solidFill>
                <a:latin typeface="Helvetica Neue"/>
                <a:ea typeface="Helvetica Neue"/>
                <a:cs typeface="Helvetica Neue"/>
              </a:defRPr>
            </a:pPr>
            <a:r>
              <a:rPr sz="2325" b="1">
                <a:solidFill>
                  <a:srgbClr val="20262D"/>
                </a:solidFill>
                <a:latin typeface="Helvetica Neue"/>
                <a:ea typeface="Helvetica Neue"/>
                <a:cs typeface="Helvetica Neue"/>
              </a:rPr>
              <a:t>Show one action</a:t>
            </a:r>
          </a:p>
        </p:txBody>
      </p:sp>
      <p:sp>
        <p:nvSpPr>
          <p:cNvPr id="6" name="">
            <a:extLst xmlns:a="http://schemas.openxmlformats.org/drawingml/2006/main">
              <a:ext uri="{FF2B5EF4-FFF2-40B4-BE49-F238E27FC236}">
                <a16:creationId xmlns:a16="http://schemas.microsoft.com/office/drawing/2014/main" id="{C8CD6DFE-6619-47AB-93E3-9F7D25FC4BB5}"/>
              </a:ext>
            </a:extLst>
          </p:cNvPr>
          <p:cNvSpPr>
            <a:spLocks xmlns:a="http://schemas.openxmlformats.org/drawingml/2006/main" noGrp="1"/>
          </p:cNvSpPr>
          <p:nvPr/>
        </p:nvSpPr>
        <p:spPr>
          <a:xfrm xmlns:a="http://schemas.openxmlformats.org/drawingml/2006/main">
            <a:off x="609600" y="4114800"/>
            <a:ext cx="3381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Run the workflow.</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Show the saved result.</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Explain the next scope decision.</a:t>
            </a:r>
          </a:p>
        </p:txBody>
      </p:sp>
      <p:sp>
        <p:nvSpPr>
          <p:cNvPr id="7" name="">
            <a:extLst xmlns:a="http://schemas.openxmlformats.org/drawingml/2006/main">
              <a:ext uri="{FF2B5EF4-FFF2-40B4-BE49-F238E27FC236}">
                <a16:creationId xmlns:a16="http://schemas.microsoft.com/office/drawing/2014/main" id="{BAA3B43A-33FA-42FB-B816-51BA1A5852AC}"/>
              </a:ext>
            </a:extLst>
          </p:cNvPr>
          <p:cNvSpPr>
            <a:spLocks xmlns:a="http://schemas.openxmlformats.org/drawingml/2006/main" noGrp="1"/>
          </p:cNvSpPr>
          <p:nvPr/>
        </p:nvSpPr>
        <p:spPr>
          <a:xfrm xmlns:a="http://schemas.openxmlformats.org/drawingml/2006/main">
            <a:off x="4419600" y="203835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D23939"/>
                </a:solidFill>
                <a:latin typeface="Helvetica Neue"/>
                <a:ea typeface="Helvetica Neue"/>
                <a:cs typeface="Helvetica Neue"/>
              </a:defRPr>
            </a:pPr>
            <a:r>
              <a:rPr sz="4800" b="1">
                <a:solidFill>
                  <a:srgbClr val="D23939"/>
                </a:solidFill>
                <a:latin typeface="Helvetica Neue"/>
                <a:ea typeface="Helvetica Neue"/>
                <a:cs typeface="Helvetica Neue"/>
              </a:rPr>
              <a:t>119</a:t>
            </a:r>
          </a:p>
        </p:txBody>
      </p:sp>
      <p:sp>
        <p:nvSpPr>
          <p:cNvPr id="8" name="">
            <a:extLst xmlns:a="http://schemas.openxmlformats.org/drawingml/2006/main">
              <a:ext uri="{FF2B5EF4-FFF2-40B4-BE49-F238E27FC236}">
                <a16:creationId xmlns:a16="http://schemas.microsoft.com/office/drawing/2014/main" id="{3CB714BE-486F-45B9-A46F-772C57E6A83A}"/>
              </a:ext>
            </a:extLst>
          </p:cNvPr>
          <p:cNvSpPr>
            <a:spLocks xmlns:a="http://schemas.openxmlformats.org/drawingml/2006/main" noGrp="1"/>
          </p:cNvSpPr>
          <p:nvPr/>
        </p:nvSpPr>
        <p:spPr>
          <a:xfrm xmlns:a="http://schemas.openxmlformats.org/drawingml/2006/main">
            <a:off x="4419600" y="31908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62D"/>
                </a:solidFill>
                <a:latin typeface="Helvetica Neue"/>
                <a:ea typeface="Helvetica Neue"/>
                <a:cs typeface="Helvetica Neue"/>
              </a:defRPr>
            </a:pPr>
            <a:r>
              <a:rPr sz="2325" b="1">
                <a:solidFill>
                  <a:srgbClr val="20262D"/>
                </a:solidFill>
                <a:latin typeface="Helvetica Neue"/>
                <a:ea typeface="Helvetica Neue"/>
                <a:cs typeface="Helvetica Neue"/>
              </a:rPr>
              <a:t>Let someone use it</a:t>
            </a:r>
          </a:p>
        </p:txBody>
      </p:sp>
      <p:sp>
        <p:nvSpPr>
          <p:cNvPr id="9" name="">
            <a:extLst xmlns:a="http://schemas.openxmlformats.org/drawingml/2006/main">
              <a:ext uri="{FF2B5EF4-FFF2-40B4-BE49-F238E27FC236}">
                <a16:creationId xmlns:a16="http://schemas.microsoft.com/office/drawing/2014/main" id="{C873E897-4B1F-4ACB-8472-A01C66598D31}"/>
              </a:ext>
            </a:extLst>
          </p:cNvPr>
          <p:cNvSpPr>
            <a:spLocks xmlns:a="http://schemas.openxmlformats.org/drawingml/2006/main" noGrp="1"/>
          </p:cNvSpPr>
          <p:nvPr/>
        </p:nvSpPr>
        <p:spPr>
          <a:xfrm xmlns:a="http://schemas.openxmlformats.org/drawingml/2006/main">
            <a:off x="4419600" y="4114800"/>
            <a:ext cx="3381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Observe the complete journey.</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Show a failure case and a test.</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Explain a feedback-driven change.</a:t>
            </a:r>
          </a:p>
        </p:txBody>
      </p:sp>
      <p:sp>
        <p:nvSpPr>
          <p:cNvPr id="10" name="">
            <a:extLst xmlns:a="http://schemas.openxmlformats.org/drawingml/2006/main">
              <a:ext uri="{FF2B5EF4-FFF2-40B4-BE49-F238E27FC236}">
                <a16:creationId xmlns:a16="http://schemas.microsoft.com/office/drawing/2014/main" id="{C3F402A8-B8C3-40B3-A5E3-55DE28797978}"/>
              </a:ext>
            </a:extLst>
          </p:cNvPr>
          <p:cNvSpPr>
            <a:spLocks xmlns:a="http://schemas.openxmlformats.org/drawingml/2006/main" noGrp="1"/>
          </p:cNvSpPr>
          <p:nvPr/>
        </p:nvSpPr>
        <p:spPr>
          <a:xfrm xmlns:a="http://schemas.openxmlformats.org/drawingml/2006/main">
            <a:off x="8229600" y="203835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D23939"/>
                </a:solidFill>
                <a:latin typeface="Helvetica Neue"/>
                <a:ea typeface="Helvetica Neue"/>
                <a:cs typeface="Helvetica Neue"/>
              </a:defRPr>
            </a:pPr>
            <a:r>
              <a:rPr sz="4800" b="1">
                <a:solidFill>
                  <a:srgbClr val="D23939"/>
                </a:solidFill>
                <a:latin typeface="Helvetica Neue"/>
                <a:ea typeface="Helvetica Neue"/>
                <a:cs typeface="Helvetica Neue"/>
              </a:rPr>
              <a:t>120</a:t>
            </a:r>
          </a:p>
        </p:txBody>
      </p:sp>
      <p:sp>
        <p:nvSpPr>
          <p:cNvPr id="11" name="">
            <a:extLst xmlns:a="http://schemas.openxmlformats.org/drawingml/2006/main">
              <a:ext uri="{FF2B5EF4-FFF2-40B4-BE49-F238E27FC236}">
                <a16:creationId xmlns:a16="http://schemas.microsoft.com/office/drawing/2014/main" id="{4DBC8192-65D0-4F63-A980-5E27BE1DF0BF}"/>
              </a:ext>
            </a:extLst>
          </p:cNvPr>
          <p:cNvSpPr>
            <a:spLocks xmlns:a="http://schemas.openxmlformats.org/drawingml/2006/main" noGrp="1"/>
          </p:cNvSpPr>
          <p:nvPr/>
        </p:nvSpPr>
        <p:spPr>
          <a:xfrm xmlns:a="http://schemas.openxmlformats.org/drawingml/2006/main">
            <a:off x="8229600" y="31908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62D"/>
                </a:solidFill>
                <a:latin typeface="Helvetica Neue"/>
                <a:ea typeface="Helvetica Neue"/>
                <a:cs typeface="Helvetica Neue"/>
              </a:defRPr>
            </a:pPr>
            <a:r>
              <a:rPr sz="2325" b="1">
                <a:solidFill>
                  <a:srgbClr val="20262D"/>
                </a:solidFill>
                <a:latin typeface="Helvetica Neue"/>
                <a:ea typeface="Helvetica Neue"/>
                <a:cs typeface="Helvetica Neue"/>
              </a:rPr>
              <a:t>Deliver the product</a:t>
            </a:r>
          </a:p>
        </p:txBody>
      </p:sp>
      <p:sp>
        <p:nvSpPr>
          <p:cNvPr id="12" name="">
            <a:extLst xmlns:a="http://schemas.openxmlformats.org/drawingml/2006/main">
              <a:ext uri="{FF2B5EF4-FFF2-40B4-BE49-F238E27FC236}">
                <a16:creationId xmlns:a16="http://schemas.microsoft.com/office/drawing/2014/main" id="{B0399BD0-4773-4EB0-8165-90D0AD74CF93}"/>
              </a:ext>
            </a:extLst>
          </p:cNvPr>
          <p:cNvSpPr>
            <a:spLocks xmlns:a="http://schemas.openxmlformats.org/drawingml/2006/main" noGrp="1"/>
          </p:cNvSpPr>
          <p:nvPr/>
        </p:nvSpPr>
        <p:spPr>
          <a:xfrm xmlns:a="http://schemas.openxmlformats.org/drawingml/2006/main">
            <a:off x="8229600" y="4114800"/>
            <a:ext cx="3381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Share a working release.</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Show repeatable checks.</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Explain decisions and limitations.</a:t>
            </a:r>
          </a:p>
        </p:txBody>
      </p:sp>
    </p:spTree>
    <p:extLst>
      <p:ext uri="{BB962C8B-B14F-4D97-AF65-F5344CB8AC3E}">
        <p14:creationId xmlns:p14="http://schemas.microsoft.com/office/powerpoint/2010/main" val="1784498218"/>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63341A1-BFF5-4372-8AED-5E3169954B00}"/>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PLANNING ACTIVITY</a:t>
            </a:r>
          </a:p>
        </p:txBody>
      </p:sp>
      <p:sp>
        <p:nvSpPr>
          <p:cNvPr id="2" name="">
            <a:extLst xmlns:a="http://schemas.openxmlformats.org/drawingml/2006/main">
              <a:ext uri="{FF2B5EF4-FFF2-40B4-BE49-F238E27FC236}">
                <a16:creationId xmlns:a16="http://schemas.microsoft.com/office/drawing/2014/main" id="{44761285-0987-4B35-A87A-07C68BE08903}"/>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Your capstone finish lines</a:t>
            </a:r>
          </a:p>
        </p:txBody>
      </p:sp>
      <p:sp>
        <p:nvSpPr>
          <p:cNvPr id="3" name="">
            <a:extLst xmlns:a="http://schemas.openxmlformats.org/drawingml/2006/main">
              <a:ext uri="{FF2B5EF4-FFF2-40B4-BE49-F238E27FC236}">
                <a16:creationId xmlns:a16="http://schemas.microsoft.com/office/drawing/2014/main" id="{64ADF285-7F45-4082-AF38-59EAD0A4CF24}"/>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12D38CB6-650D-40F6-9078-9E6CC2A45DD7}"/>
              </a:ext>
            </a:extLst>
          </p:cNvPr>
          <p:cNvSpPr>
            <a:spLocks xmlns:a="http://schemas.openxmlformats.org/drawingml/2006/main" noGrp="1"/>
          </p:cNvSpPr>
          <p:nvPr/>
        </p:nvSpPr>
        <p:spPr>
          <a:xfrm xmlns:a="http://schemas.openxmlformats.org/drawingml/2006/main">
            <a:off x="609600" y="2190750"/>
            <a:ext cx="180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D23939"/>
                </a:solidFill>
                <a:latin typeface="Helvetica Neue"/>
                <a:ea typeface="Helvetica Neue"/>
                <a:cs typeface="Helvetica Neue"/>
              </a:defRPr>
            </a:pPr>
            <a:r>
              <a:rPr sz="4200" b="1">
                <a:solidFill>
                  <a:srgbClr val="D23939"/>
                </a:solidFill>
                <a:latin typeface="Helvetica Neue"/>
                <a:ea typeface="Helvetica Neue"/>
                <a:cs typeface="Helvetica Neue"/>
              </a:rPr>
              <a:t>118</a:t>
            </a:r>
          </a:p>
        </p:txBody>
      </p:sp>
      <p:sp>
        <p:nvSpPr>
          <p:cNvPr id="5" name="">
            <a:extLst xmlns:a="http://schemas.openxmlformats.org/drawingml/2006/main">
              <a:ext uri="{FF2B5EF4-FFF2-40B4-BE49-F238E27FC236}">
                <a16:creationId xmlns:a16="http://schemas.microsoft.com/office/drawing/2014/main" id="{4FEE38CB-7733-43D1-8B18-5E93366948D5}"/>
              </a:ext>
            </a:extLst>
          </p:cNvPr>
          <p:cNvSpPr>
            <a:spLocks xmlns:a="http://schemas.openxmlformats.org/drawingml/2006/main" noGrp="1"/>
          </p:cNvSpPr>
          <p:nvPr/>
        </p:nvSpPr>
        <p:spPr>
          <a:xfrm xmlns:a="http://schemas.openxmlformats.org/drawingml/2006/main">
            <a:off x="2714625" y="229552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0262D"/>
                </a:solidFill>
                <a:latin typeface="Helvetica Neue"/>
                <a:ea typeface="Helvetica Neue"/>
                <a:cs typeface="Helvetica Neue"/>
              </a:defRPr>
            </a:pPr>
            <a:r>
              <a:rPr sz="2550" b="0">
                <a:solidFill>
                  <a:srgbClr val="20262D"/>
                </a:solidFill>
                <a:latin typeface="Helvetica Neue"/>
                <a:ea typeface="Helvetica Neue"/>
                <a:cs typeface="Helvetica Neue"/>
              </a:rPr>
              <a:t>By the end of 118, a user can…</a:t>
            </a:r>
          </a:p>
        </p:txBody>
      </p:sp>
      <p:sp>
        <p:nvSpPr>
          <p:cNvPr id="6" name="">
            <a:extLst xmlns:a="http://schemas.openxmlformats.org/drawingml/2006/main">
              <a:ext uri="{FF2B5EF4-FFF2-40B4-BE49-F238E27FC236}">
                <a16:creationId xmlns:a16="http://schemas.microsoft.com/office/drawing/2014/main" id="{C8B9F324-3591-42F1-B038-C5C6708F5992}"/>
              </a:ext>
            </a:extLst>
          </p:cNvPr>
          <p:cNvSpPr>
            <a:spLocks xmlns:a="http://schemas.openxmlformats.org/drawingml/2006/main" noGrp="1"/>
          </p:cNvSpPr>
          <p:nvPr/>
        </p:nvSpPr>
        <p:spPr>
          <a:xfrm xmlns:a="http://schemas.openxmlformats.org/drawingml/2006/main">
            <a:off x="609600" y="3381375"/>
            <a:ext cx="180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D23939"/>
                </a:solidFill>
                <a:latin typeface="Helvetica Neue"/>
                <a:ea typeface="Helvetica Neue"/>
                <a:cs typeface="Helvetica Neue"/>
              </a:defRPr>
            </a:pPr>
            <a:r>
              <a:rPr sz="4200" b="1">
                <a:solidFill>
                  <a:srgbClr val="D23939"/>
                </a:solidFill>
                <a:latin typeface="Helvetica Neue"/>
                <a:ea typeface="Helvetica Neue"/>
                <a:cs typeface="Helvetica Neue"/>
              </a:rPr>
              <a:t>119</a:t>
            </a:r>
          </a:p>
        </p:txBody>
      </p:sp>
      <p:sp>
        <p:nvSpPr>
          <p:cNvPr id="7" name="">
            <a:extLst xmlns:a="http://schemas.openxmlformats.org/drawingml/2006/main">
              <a:ext uri="{FF2B5EF4-FFF2-40B4-BE49-F238E27FC236}">
                <a16:creationId xmlns:a16="http://schemas.microsoft.com/office/drawing/2014/main" id="{B9771CD4-E939-45D6-BB5C-60C617766A28}"/>
              </a:ext>
            </a:extLst>
          </p:cNvPr>
          <p:cNvSpPr>
            <a:spLocks xmlns:a="http://schemas.openxmlformats.org/drawingml/2006/main" noGrp="1"/>
          </p:cNvSpPr>
          <p:nvPr/>
        </p:nvSpPr>
        <p:spPr>
          <a:xfrm xmlns:a="http://schemas.openxmlformats.org/drawingml/2006/main">
            <a:off x="2714625" y="3486150"/>
            <a:ext cx="866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0262D"/>
                </a:solidFill>
                <a:latin typeface="Helvetica Neue"/>
                <a:ea typeface="Helvetica Neue"/>
                <a:cs typeface="Helvetica Neue"/>
              </a:defRPr>
            </a:pPr>
            <a:r>
              <a:rPr sz="2550" b="0">
                <a:solidFill>
                  <a:srgbClr val="20262D"/>
                </a:solidFill>
                <a:latin typeface="Helvetica Neue"/>
                <a:ea typeface="Helvetica Neue"/>
                <a:cs typeface="Helvetica Neue"/>
              </a:rPr>
              <a:t>By the end of 119, a new user can complete…</a:t>
            </a:r>
          </a:p>
        </p:txBody>
      </p:sp>
      <p:sp>
        <p:nvSpPr>
          <p:cNvPr id="8" name="">
            <a:extLst xmlns:a="http://schemas.openxmlformats.org/drawingml/2006/main">
              <a:ext uri="{FF2B5EF4-FFF2-40B4-BE49-F238E27FC236}">
                <a16:creationId xmlns:a16="http://schemas.microsoft.com/office/drawing/2014/main" id="{FF54B673-151A-4CF5-B2E4-4BC02BF9F6F9}"/>
              </a:ext>
            </a:extLst>
          </p:cNvPr>
          <p:cNvSpPr>
            <a:spLocks xmlns:a="http://schemas.openxmlformats.org/drawingml/2006/main" noGrp="1"/>
          </p:cNvSpPr>
          <p:nvPr/>
        </p:nvSpPr>
        <p:spPr>
          <a:xfrm xmlns:a="http://schemas.openxmlformats.org/drawingml/2006/main">
            <a:off x="609600" y="4572000"/>
            <a:ext cx="180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D23939"/>
                </a:solidFill>
                <a:latin typeface="Helvetica Neue"/>
                <a:ea typeface="Helvetica Neue"/>
                <a:cs typeface="Helvetica Neue"/>
              </a:defRPr>
            </a:pPr>
            <a:r>
              <a:rPr sz="4200" b="1">
                <a:solidFill>
                  <a:srgbClr val="D23939"/>
                </a:solidFill>
                <a:latin typeface="Helvetica Neue"/>
                <a:ea typeface="Helvetica Neue"/>
                <a:cs typeface="Helvetica Neue"/>
              </a:rPr>
              <a:t>120</a:t>
            </a:r>
          </a:p>
        </p:txBody>
      </p:sp>
      <p:sp>
        <p:nvSpPr>
          <p:cNvPr id="9" name="">
            <a:extLst xmlns:a="http://schemas.openxmlformats.org/drawingml/2006/main">
              <a:ext uri="{FF2B5EF4-FFF2-40B4-BE49-F238E27FC236}">
                <a16:creationId xmlns:a16="http://schemas.microsoft.com/office/drawing/2014/main" id="{8F2437CA-1482-4A13-A2C3-B7C4E1967D69}"/>
              </a:ext>
            </a:extLst>
          </p:cNvPr>
          <p:cNvSpPr>
            <a:spLocks xmlns:a="http://schemas.openxmlformats.org/drawingml/2006/main" noGrp="1"/>
          </p:cNvSpPr>
          <p:nvPr/>
        </p:nvSpPr>
        <p:spPr>
          <a:xfrm xmlns:a="http://schemas.openxmlformats.org/drawingml/2006/main">
            <a:off x="2714625" y="4676775"/>
            <a:ext cx="866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0262D"/>
                </a:solidFill>
                <a:latin typeface="Helvetica Neue"/>
                <a:ea typeface="Helvetica Neue"/>
                <a:cs typeface="Helvetica Neue"/>
              </a:defRPr>
            </a:pPr>
            <a:r>
              <a:rPr sz="2550" b="0">
                <a:solidFill>
                  <a:srgbClr val="20262D"/>
                </a:solidFill>
                <a:latin typeface="Helvetica Neue"/>
                <a:ea typeface="Helvetica Neue"/>
                <a:cs typeface="Helvetica Neue"/>
              </a:rPr>
              <a:t>By the end of 120, I can deliver and prove…</a:t>
            </a:r>
          </a:p>
        </p:txBody>
      </p:sp>
    </p:spTree>
    <p:extLst>
      <p:ext uri="{BB962C8B-B14F-4D97-AF65-F5344CB8AC3E}">
        <p14:creationId xmlns:p14="http://schemas.microsoft.com/office/powerpoint/2010/main" val="5040502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2026-09-05T21:08:52.3480000Z</dcterms:created>
  <dcterms:modified xsi:type="dcterms:W3CDTF">2026-09-05T21:08:52.3480000Z</dcterms:modified>
</coreProperties>
</file>